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La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9" roundtripDataSignature="AMtx7mi88Vt6ETuADRH3e2n9zb5H2ToL7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 name="Google Shape;5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 name="Google Shape;5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 name="Google Shape;6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b6e91aa64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g2b6e91aa64b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6864134713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g26864134713_1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10" name="Google Shape;10;p20"/>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9pPr>
          </a:lstStyle>
          <a:p/>
        </p:txBody>
      </p:sp>
      <p:sp>
        <p:nvSpPr>
          <p:cNvPr id="11" name="Google Shape;11;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 name="Shape 12"/>
        <p:cNvGrpSpPr/>
        <p:nvPr/>
      </p:nvGrpSpPr>
      <p:grpSpPr>
        <a:xfrm>
          <a:off x="0" y="0"/>
          <a:ext cx="0" cy="0"/>
          <a:chOff x="0" y="0"/>
          <a:chExt cx="0" cy="0"/>
        </a:xfrm>
      </p:grpSpPr>
      <p:sp>
        <p:nvSpPr>
          <p:cNvPr id="13" name="Google Shape;13;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2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9pPr>
          </a:lstStyle>
          <a:p/>
        </p:txBody>
      </p:sp>
      <p:sp>
        <p:nvSpPr>
          <p:cNvPr id="16" name="Google Shape;16;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23"/>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19" name="Google Shape;19;p23"/>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20" name="Google Shape;20;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24"/>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23" name="Google Shape;23;p24"/>
          <p:cNvSpPr txBox="1"/>
          <p:nvPr>
            <p:ph idx="1" type="body"/>
          </p:nvPr>
        </p:nvSpPr>
        <p:spPr>
          <a:xfrm>
            <a:off x="311700" y="1152475"/>
            <a:ext cx="3999900" cy="3416400"/>
          </a:xfrm>
          <a:prstGeom prst="rect">
            <a:avLst/>
          </a:prstGeom>
          <a:noFill/>
          <a:ln>
            <a:noFill/>
          </a:ln>
        </p:spPr>
        <p:txBody>
          <a:bodyPr anchorCtr="0" anchor="ctr"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04800" lvl="1" marL="9144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2pPr>
            <a:lvl3pPr indent="-304800" lvl="2" marL="13716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3pPr>
            <a:lvl4pPr indent="-304800" lvl="3" marL="18288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4pPr>
            <a:lvl5pPr indent="-304800" lvl="4" marL="22860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5pPr>
            <a:lvl6pPr indent="-304800" lvl="5" marL="27432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6pPr>
            <a:lvl7pPr indent="-304800" lvl="6" marL="32004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7pPr>
            <a:lvl8pPr indent="-304800" lvl="7" marL="36576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8pPr>
            <a:lvl9pPr indent="-304800" lvl="8" marL="41148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9pPr>
          </a:lstStyle>
          <a:p/>
        </p:txBody>
      </p:sp>
      <p:sp>
        <p:nvSpPr>
          <p:cNvPr id="24" name="Google Shape;24;p24"/>
          <p:cNvSpPr txBox="1"/>
          <p:nvPr>
            <p:ph idx="2" type="body"/>
          </p:nvPr>
        </p:nvSpPr>
        <p:spPr>
          <a:xfrm>
            <a:off x="4832400" y="1152475"/>
            <a:ext cx="3999900" cy="3416400"/>
          </a:xfrm>
          <a:prstGeom prst="rect">
            <a:avLst/>
          </a:prstGeom>
          <a:noFill/>
          <a:ln>
            <a:noFill/>
          </a:ln>
        </p:spPr>
        <p:txBody>
          <a:bodyPr anchorCtr="0" anchor="ctr"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04800" lvl="1" marL="9144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2pPr>
            <a:lvl3pPr indent="-304800" lvl="2" marL="13716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3pPr>
            <a:lvl4pPr indent="-304800" lvl="3" marL="18288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4pPr>
            <a:lvl5pPr indent="-304800" lvl="4" marL="22860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5pPr>
            <a:lvl6pPr indent="-304800" lvl="5" marL="27432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6pPr>
            <a:lvl7pPr indent="-304800" lvl="6" marL="32004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7pPr>
            <a:lvl8pPr indent="-304800" lvl="7" marL="36576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8pPr>
            <a:lvl9pPr indent="-304800" lvl="8" marL="41148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9pPr>
          </a:lstStyle>
          <a:p/>
        </p:txBody>
      </p:sp>
      <p:sp>
        <p:nvSpPr>
          <p:cNvPr id="25" name="Google Shape;25;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25"/>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28" name="Google Shape;2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2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000000"/>
              </a:buClr>
              <a:buSzPts val="2400"/>
              <a:buFont typeface="Arial"/>
              <a:buChar char="●"/>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400"/>
              <a:buFont typeface="Arial"/>
              <a:buChar char="○"/>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400"/>
              <a:buFont typeface="Arial"/>
              <a:buChar char="■"/>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400"/>
              <a:buFont typeface="Arial"/>
              <a:buChar char="●"/>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400"/>
              <a:buFont typeface="Arial"/>
              <a:buChar char="○"/>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400"/>
              <a:buFont typeface="Arial"/>
              <a:buChar char="■"/>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400"/>
              <a:buFont typeface="Arial"/>
              <a:buChar char="●"/>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400"/>
              <a:buFont typeface="Arial"/>
              <a:buChar char="○"/>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400"/>
              <a:buFont typeface="Arial"/>
              <a:buChar char="■"/>
              <a:defRPr b="0" i="0" sz="2400" u="none" cap="none" strike="noStrike">
                <a:solidFill>
                  <a:srgbClr val="000000"/>
                </a:solidFill>
                <a:latin typeface="Arial"/>
                <a:ea typeface="Arial"/>
                <a:cs typeface="Arial"/>
                <a:sym typeface="Arial"/>
              </a:defRPr>
            </a:lvl9pPr>
          </a:lstStyle>
          <a:p/>
        </p:txBody>
      </p:sp>
      <p:sp>
        <p:nvSpPr>
          <p:cNvPr id="31" name="Google Shape;31;p26"/>
          <p:cNvSpPr txBox="1"/>
          <p:nvPr>
            <p:ph idx="1" type="body"/>
          </p:nvPr>
        </p:nvSpPr>
        <p:spPr>
          <a:xfrm>
            <a:off x="311700" y="1389600"/>
            <a:ext cx="2808000" cy="3179400"/>
          </a:xfrm>
          <a:prstGeom prst="rect">
            <a:avLst/>
          </a:prstGeom>
          <a:noFill/>
          <a:ln>
            <a:noFill/>
          </a:ln>
        </p:spPr>
        <p:txBody>
          <a:bodyPr anchorCtr="0" anchor="ctr" bIns="91425" lIns="91425" spcFirstLastPara="1" rIns="91425" wrap="square" tIns="91425">
            <a:noAutofit/>
          </a:bodyPr>
          <a:lstStyle>
            <a:lvl1pPr indent="-304800" lvl="0" marL="4572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1pPr>
            <a:lvl2pPr indent="-304800" lvl="1" marL="9144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2pPr>
            <a:lvl3pPr indent="-304800" lvl="2" marL="13716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3pPr>
            <a:lvl4pPr indent="-304800" lvl="3" marL="18288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4pPr>
            <a:lvl5pPr indent="-304800" lvl="4" marL="22860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5pPr>
            <a:lvl6pPr indent="-304800" lvl="5" marL="27432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6pPr>
            <a:lvl7pPr indent="-304800" lvl="6" marL="32004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7pPr>
            <a:lvl8pPr indent="-304800" lvl="7" marL="36576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8pPr>
            <a:lvl9pPr indent="-304800" lvl="8" marL="41148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9pPr>
          </a:lstStyle>
          <a:p/>
        </p:txBody>
      </p:sp>
      <p:sp>
        <p:nvSpPr>
          <p:cNvPr id="32" name="Google Shape;32;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2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9pPr>
          </a:lstStyle>
          <a:p/>
        </p:txBody>
      </p:sp>
      <p:sp>
        <p:nvSpPr>
          <p:cNvPr id="35" name="Google Shape;35;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2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39" name="Google Shape;39;p28"/>
          <p:cNvSpPr txBox="1"/>
          <p:nvPr>
            <p:ph idx="1" type="subTitle"/>
          </p:nvPr>
        </p:nvSpPr>
        <p:spPr>
          <a:xfrm>
            <a:off x="265500" y="2803075"/>
            <a:ext cx="4045200" cy="12351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9pPr>
          </a:lstStyle>
          <a:p/>
        </p:txBody>
      </p:sp>
      <p:sp>
        <p:nvSpPr>
          <p:cNvPr id="40" name="Google Shape;40;p2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41" name="Google Shape;41;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2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stStyle>
          <a:p/>
        </p:txBody>
      </p:sp>
      <p:sp>
        <p:nvSpPr>
          <p:cNvPr id="44" name="Google Shape;44;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3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000000"/>
              </a:buClr>
              <a:buSzPts val="12000"/>
              <a:buFont typeface="Arial"/>
              <a:buChar char="●"/>
              <a:defRPr b="0" i="0" sz="120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2000"/>
              <a:buFont typeface="Arial"/>
              <a:buChar char="○"/>
              <a:defRPr b="0" i="0" sz="120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2000"/>
              <a:buFont typeface="Arial"/>
              <a:buChar char="■"/>
              <a:defRPr b="0" i="0" sz="120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2000"/>
              <a:buFont typeface="Arial"/>
              <a:buChar char="●"/>
              <a:defRPr b="0" i="0" sz="120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2000"/>
              <a:buFont typeface="Arial"/>
              <a:buChar char="○"/>
              <a:defRPr b="0" i="0" sz="120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2000"/>
              <a:buFont typeface="Arial"/>
              <a:buChar char="■"/>
              <a:defRPr b="0" i="0" sz="120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2000"/>
              <a:buFont typeface="Arial"/>
              <a:buChar char="●"/>
              <a:defRPr b="0" i="0" sz="120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2000"/>
              <a:buFont typeface="Arial"/>
              <a:buChar char="○"/>
              <a:defRPr b="0" i="0" sz="120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2000"/>
              <a:buFont typeface="Arial"/>
              <a:buChar char="■"/>
              <a:defRPr b="0" i="0" sz="12000" u="none" cap="none" strike="noStrike">
                <a:solidFill>
                  <a:srgbClr val="000000"/>
                </a:solidFill>
                <a:latin typeface="Arial"/>
                <a:ea typeface="Arial"/>
                <a:cs typeface="Arial"/>
                <a:sym typeface="Arial"/>
              </a:defRPr>
            </a:lvl9pPr>
          </a:lstStyle>
          <a:p>
            <a:r>
              <a:t>xx%</a:t>
            </a:r>
          </a:p>
        </p:txBody>
      </p:sp>
      <p:sp>
        <p:nvSpPr>
          <p:cNvPr id="47" name="Google Shape;47;p30"/>
          <p:cNvSpPr txBox="1"/>
          <p:nvPr>
            <p:ph idx="1" type="body"/>
          </p:nvPr>
        </p:nvSpPr>
        <p:spPr>
          <a:xfrm>
            <a:off x="311700" y="3152225"/>
            <a:ext cx="8520600" cy="1300800"/>
          </a:xfrm>
          <a:prstGeom prst="rect">
            <a:avLst/>
          </a:prstGeom>
          <a:noFill/>
          <a:ln>
            <a:noFill/>
          </a:ln>
        </p:spPr>
        <p:txBody>
          <a:bodyPr anchorCtr="0" anchor="ctr" bIns="91425" lIns="91425" spcFirstLastPara="1" rIns="91425" wrap="square" tIns="91425">
            <a:noAutofit/>
          </a:bodyPr>
          <a:lstStyle>
            <a:lvl1pPr indent="-317500" lvl="0" marL="457200" marR="0" rtl="0" algn="ctr">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17500" lvl="1" marL="914400" marR="0" rtl="0" algn="ctr">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rtl="0" algn="ctr">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rtl="0" algn="ctr">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rtl="0" algn="ctr">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rtl="0" algn="ctr">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ctr">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ctr">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ctr">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48" name="Google Shape;48;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7" name="Google Shape;7;p19"/>
          <p:cNvPicPr preferRelativeResize="0"/>
          <p:nvPr/>
        </p:nvPicPr>
        <p:blipFill rotWithShape="1">
          <a:blip r:embed="rId1">
            <a:alphaModFix/>
          </a:blip>
          <a:srcRect b="22214" l="0" r="8239" t="0"/>
          <a:stretch/>
        </p:blipFill>
        <p:spPr>
          <a:xfrm>
            <a:off x="6714375" y="0"/>
            <a:ext cx="2429625" cy="52605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docs.google.com/spreadsheets/d/1TtkAyJIjM0c10jiJVpOnRowAMGZKe9nA/edit?usp=sharing&amp;ouid=108819139003434588141&amp;rtpof=true&amp;sd=true" TargetMode="Externa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docs.google.com/document/d/1HjkIoy84gikOqKEokLt4SBxCbb-pIjqk/edit?usp=sharing&amp;ouid=105437725021809287199&amp;rtpof=true&amp;sd=tru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gif"/><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2"/>
          <p:cNvSpPr txBox="1"/>
          <p:nvPr/>
        </p:nvSpPr>
        <p:spPr>
          <a:xfrm>
            <a:off x="424438" y="3604300"/>
            <a:ext cx="7840200" cy="1051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rgbClr val="000000"/>
                </a:solidFill>
                <a:latin typeface="Lato"/>
                <a:ea typeface="Lato"/>
                <a:cs typeface="Lato"/>
                <a:sym typeface="Lato"/>
              </a:rPr>
              <a:t>Spreadsheet Project:</a:t>
            </a:r>
            <a:endParaRPr b="1" i="0" sz="2400" u="none" cap="none" strike="noStrike">
              <a:solidFill>
                <a:srgbClr val="000000"/>
              </a:solidFill>
              <a:latin typeface="Lato"/>
              <a:ea typeface="Lato"/>
              <a:cs typeface="Lato"/>
              <a:sym typeface="Lato"/>
            </a:endParaRPr>
          </a:p>
          <a:p>
            <a:pPr indent="457200" lvl="0" marL="457200" marR="0" rtl="0" algn="l">
              <a:lnSpc>
                <a:spcPct val="100000"/>
              </a:lnSpc>
              <a:spcBef>
                <a:spcPts val="1000"/>
              </a:spcBef>
              <a:spcAft>
                <a:spcPts val="0"/>
              </a:spcAft>
              <a:buClr>
                <a:schemeClr val="dk1"/>
              </a:buClr>
              <a:buSzPts val="1100"/>
              <a:buFont typeface="Arial"/>
              <a:buNone/>
            </a:pPr>
            <a:r>
              <a:rPr b="1" lang="en-GB" sz="2400">
                <a:solidFill>
                  <a:schemeClr val="dk1"/>
                </a:solidFill>
                <a:latin typeface="Lato"/>
                <a:ea typeface="Lato"/>
                <a:cs typeface="Lato"/>
                <a:sym typeface="Lato"/>
              </a:rPr>
              <a:t>IT Ticket Analysis</a:t>
            </a:r>
            <a:endParaRPr b="1" i="0" sz="2400" u="none" cap="none" strike="noStrike">
              <a:solidFill>
                <a:srgbClr val="000000"/>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3"/>
          <p:cNvSpPr txBox="1"/>
          <p:nvPr/>
        </p:nvSpPr>
        <p:spPr>
          <a:xfrm>
            <a:off x="558525" y="1852525"/>
            <a:ext cx="4920600" cy="21303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0"/>
              </a:spcBef>
              <a:spcAft>
                <a:spcPts val="0"/>
              </a:spcAft>
              <a:buClr>
                <a:srgbClr val="000000"/>
              </a:buClr>
              <a:buSzPts val="1600"/>
              <a:buFont typeface="Lato"/>
              <a:buChar char="❏"/>
            </a:pPr>
            <a:r>
              <a:rPr b="0" i="0" lang="en-GB" sz="1600" u="none" cap="none" strike="noStrike">
                <a:solidFill>
                  <a:srgbClr val="000000"/>
                </a:solidFill>
                <a:latin typeface="Lato"/>
                <a:ea typeface="Lato"/>
                <a:cs typeface="Lato"/>
                <a:sym typeface="Lato"/>
              </a:rPr>
              <a:t>Problem Statement</a:t>
            </a:r>
            <a:endParaRPr b="0" i="0" sz="1600" u="none" cap="none" strike="noStrike">
              <a:solidFill>
                <a:srgbClr val="000000"/>
              </a:solidFill>
              <a:latin typeface="Lato"/>
              <a:ea typeface="Lato"/>
              <a:cs typeface="Lato"/>
              <a:sym typeface="Lato"/>
            </a:endParaRPr>
          </a:p>
          <a:p>
            <a:pPr indent="0" lvl="0" marL="457200" marR="0" rtl="0" algn="l">
              <a:lnSpc>
                <a:spcPct val="115000"/>
              </a:lnSpc>
              <a:spcBef>
                <a:spcPts val="0"/>
              </a:spcBef>
              <a:spcAft>
                <a:spcPts val="0"/>
              </a:spcAft>
              <a:buClr>
                <a:srgbClr val="000000"/>
              </a:buClr>
              <a:buSzPts val="1800"/>
              <a:buFont typeface="Arial"/>
              <a:buNone/>
            </a:pPr>
            <a:r>
              <a:t/>
            </a:r>
            <a:endParaRPr b="0" i="0" sz="1600" u="none" cap="none" strike="noStrike">
              <a:solidFill>
                <a:srgbClr val="000000"/>
              </a:solidFill>
              <a:latin typeface="Lato"/>
              <a:ea typeface="Lato"/>
              <a:cs typeface="Lato"/>
              <a:sym typeface="Lato"/>
            </a:endParaRPr>
          </a:p>
          <a:p>
            <a:pPr indent="-330200" lvl="0" marL="457200" marR="0" rtl="0" algn="l">
              <a:lnSpc>
                <a:spcPct val="115000"/>
              </a:lnSpc>
              <a:spcBef>
                <a:spcPts val="0"/>
              </a:spcBef>
              <a:spcAft>
                <a:spcPts val="0"/>
              </a:spcAft>
              <a:buClr>
                <a:srgbClr val="000000"/>
              </a:buClr>
              <a:buSzPts val="1600"/>
              <a:buFont typeface="Lato"/>
              <a:buChar char="❏"/>
            </a:pPr>
            <a:r>
              <a:rPr b="0" i="0" lang="en-GB" sz="1600" u="none" cap="none" strike="noStrike">
                <a:solidFill>
                  <a:srgbClr val="000000"/>
                </a:solidFill>
                <a:latin typeface="Lato"/>
                <a:ea typeface="Lato"/>
                <a:cs typeface="Lato"/>
                <a:sym typeface="Lato"/>
              </a:rPr>
              <a:t>Data Description</a:t>
            </a:r>
            <a:endParaRPr b="0" i="0" sz="1600" u="none" cap="none" strike="noStrike">
              <a:solidFill>
                <a:srgbClr val="000000"/>
              </a:solidFill>
              <a:latin typeface="Lato"/>
              <a:ea typeface="Lato"/>
              <a:cs typeface="Lato"/>
              <a:sym typeface="Lato"/>
            </a:endParaRPr>
          </a:p>
          <a:p>
            <a:pPr indent="0" lvl="0" marL="457200" marR="0" rtl="0" algn="l">
              <a:lnSpc>
                <a:spcPct val="115000"/>
              </a:lnSpc>
              <a:spcBef>
                <a:spcPts val="0"/>
              </a:spcBef>
              <a:spcAft>
                <a:spcPts val="0"/>
              </a:spcAft>
              <a:buClr>
                <a:srgbClr val="000000"/>
              </a:buClr>
              <a:buSzPts val="1800"/>
              <a:buFont typeface="Arial"/>
              <a:buNone/>
            </a:pPr>
            <a:r>
              <a:t/>
            </a:r>
            <a:endParaRPr b="0" i="0" sz="1600" u="none" cap="none" strike="noStrike">
              <a:solidFill>
                <a:srgbClr val="000000"/>
              </a:solidFill>
              <a:latin typeface="Lato"/>
              <a:ea typeface="Lato"/>
              <a:cs typeface="Lato"/>
              <a:sym typeface="Lato"/>
            </a:endParaRPr>
          </a:p>
          <a:p>
            <a:pPr indent="-330200" lvl="0" marL="457200" marR="0" rtl="0" algn="l">
              <a:lnSpc>
                <a:spcPct val="115000"/>
              </a:lnSpc>
              <a:spcBef>
                <a:spcPts val="0"/>
              </a:spcBef>
              <a:spcAft>
                <a:spcPts val="0"/>
              </a:spcAft>
              <a:buClr>
                <a:srgbClr val="000000"/>
              </a:buClr>
              <a:buSzPts val="1600"/>
              <a:buFont typeface="Lato"/>
              <a:buChar char="❏"/>
            </a:pPr>
            <a:r>
              <a:rPr b="0" i="0" lang="en-GB" sz="1600" u="none" cap="none" strike="noStrike">
                <a:solidFill>
                  <a:srgbClr val="000000"/>
                </a:solidFill>
                <a:latin typeface="Lato"/>
                <a:ea typeface="Lato"/>
                <a:cs typeface="Lato"/>
                <a:sym typeface="Lato"/>
              </a:rPr>
              <a:t>Objective Key Metrics and Visualizations</a:t>
            </a:r>
            <a:endParaRPr b="0" i="0" sz="1600" u="none" cap="none" strike="noStrike">
              <a:solidFill>
                <a:srgbClr val="000000"/>
              </a:solidFill>
              <a:latin typeface="Lato"/>
              <a:ea typeface="Lato"/>
              <a:cs typeface="Lato"/>
              <a:sym typeface="Lato"/>
            </a:endParaRPr>
          </a:p>
          <a:p>
            <a:pPr indent="0" lvl="0" marL="457200" marR="0" rtl="0" algn="l">
              <a:lnSpc>
                <a:spcPct val="115000"/>
              </a:lnSpc>
              <a:spcBef>
                <a:spcPts val="0"/>
              </a:spcBef>
              <a:spcAft>
                <a:spcPts val="0"/>
              </a:spcAft>
              <a:buClr>
                <a:srgbClr val="000000"/>
              </a:buClr>
              <a:buSzPts val="1800"/>
              <a:buFont typeface="Arial"/>
              <a:buNone/>
            </a:pPr>
            <a:r>
              <a:t/>
            </a:r>
            <a:endParaRPr b="0" i="0" sz="1600" u="none" cap="none" strike="noStrike">
              <a:solidFill>
                <a:srgbClr val="000000"/>
              </a:solidFill>
              <a:latin typeface="Lato"/>
              <a:ea typeface="Lato"/>
              <a:cs typeface="Lato"/>
              <a:sym typeface="Lato"/>
            </a:endParaRPr>
          </a:p>
          <a:p>
            <a:pPr indent="-330200" lvl="0" marL="457200" marR="0" rtl="0" algn="l">
              <a:lnSpc>
                <a:spcPct val="115000"/>
              </a:lnSpc>
              <a:spcBef>
                <a:spcPts val="0"/>
              </a:spcBef>
              <a:spcAft>
                <a:spcPts val="0"/>
              </a:spcAft>
              <a:buClr>
                <a:srgbClr val="000000"/>
              </a:buClr>
              <a:buSzPts val="1600"/>
              <a:buFont typeface="Lato"/>
              <a:buChar char="❏"/>
            </a:pPr>
            <a:r>
              <a:rPr b="0" i="0" lang="en-GB" sz="1600" u="none" cap="none" strike="noStrike">
                <a:solidFill>
                  <a:srgbClr val="000000"/>
                </a:solidFill>
                <a:latin typeface="Lato"/>
                <a:ea typeface="Lato"/>
                <a:cs typeface="Lato"/>
                <a:sym typeface="Lato"/>
              </a:rPr>
              <a:t>Subjective Question for Insights</a:t>
            </a:r>
            <a:endParaRPr b="0" i="0" sz="1600" u="none" cap="none" strike="noStrike">
              <a:solidFill>
                <a:srgbClr val="000000"/>
              </a:solidFill>
              <a:latin typeface="Lato"/>
              <a:ea typeface="Lato"/>
              <a:cs typeface="Lato"/>
              <a:sym typeface="Lato"/>
            </a:endParaRPr>
          </a:p>
        </p:txBody>
      </p:sp>
      <p:sp>
        <p:nvSpPr>
          <p:cNvPr id="59" name="Google Shape;59;p3"/>
          <p:cNvSpPr txBox="1"/>
          <p:nvPr/>
        </p:nvSpPr>
        <p:spPr>
          <a:xfrm>
            <a:off x="558525" y="1132225"/>
            <a:ext cx="4145400" cy="486000"/>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2400"/>
              <a:buFont typeface="Arial"/>
              <a:buNone/>
            </a:pPr>
            <a:r>
              <a:rPr b="0" i="0" lang="en-GB" sz="2200" u="none" cap="none" strike="noStrike">
                <a:solidFill>
                  <a:srgbClr val="000000"/>
                </a:solidFill>
                <a:latin typeface="Lato"/>
                <a:ea typeface="Lato"/>
                <a:cs typeface="Lato"/>
                <a:sym typeface="Lato"/>
              </a:rPr>
              <a:t>Agenda</a:t>
            </a:r>
            <a:endParaRPr b="0" i="0" sz="2200" u="none" cap="none" strike="noStrike">
              <a:solidFill>
                <a:srgbClr val="000000"/>
              </a:solidFill>
              <a:latin typeface="Lato"/>
              <a:ea typeface="Lato"/>
              <a:cs typeface="Lato"/>
              <a:sym typeface="Lato"/>
            </a:endParaRPr>
          </a:p>
        </p:txBody>
      </p:sp>
      <p:pic>
        <p:nvPicPr>
          <p:cNvPr id="60" name="Google Shape;60;p3"/>
          <p:cNvPicPr preferRelativeResize="0"/>
          <p:nvPr/>
        </p:nvPicPr>
        <p:blipFill rotWithShape="1">
          <a:blip r:embed="rId3">
            <a:alphaModFix/>
          </a:blip>
          <a:srcRect b="0" l="0" r="0" t="0"/>
          <a:stretch/>
        </p:blipFill>
        <p:spPr>
          <a:xfrm>
            <a:off x="5643924" y="1433075"/>
            <a:ext cx="2698775" cy="29762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pic>
        <p:nvPicPr>
          <p:cNvPr id="65" name="Google Shape;65;p4"/>
          <p:cNvPicPr preferRelativeResize="0"/>
          <p:nvPr/>
        </p:nvPicPr>
        <p:blipFill>
          <a:blip r:embed="rId3">
            <a:alphaModFix/>
          </a:blip>
          <a:stretch>
            <a:fillRect/>
          </a:stretch>
        </p:blipFill>
        <p:spPr>
          <a:xfrm>
            <a:off x="1083612" y="2416800"/>
            <a:ext cx="6976775" cy="2336875"/>
          </a:xfrm>
          <a:prstGeom prst="rect">
            <a:avLst/>
          </a:prstGeom>
          <a:noFill/>
          <a:ln>
            <a:noFill/>
          </a:ln>
        </p:spPr>
      </p:pic>
      <p:sp>
        <p:nvSpPr>
          <p:cNvPr id="66" name="Google Shape;66;p4"/>
          <p:cNvSpPr txBox="1"/>
          <p:nvPr/>
        </p:nvSpPr>
        <p:spPr>
          <a:xfrm>
            <a:off x="644550" y="477300"/>
            <a:ext cx="7854900" cy="1939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GB" sz="1600" u="none" cap="none" strike="noStrike">
                <a:solidFill>
                  <a:srgbClr val="000000"/>
                </a:solidFill>
                <a:latin typeface="Lato"/>
                <a:ea typeface="Lato"/>
                <a:cs typeface="Lato"/>
                <a:sym typeface="Lato"/>
              </a:rPr>
              <a:t>Problem Statement</a:t>
            </a:r>
            <a:endParaRPr b="0" i="0" sz="18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800"/>
              <a:buFont typeface="Arial"/>
              <a:buNone/>
            </a:pPr>
            <a:r>
              <a:rPr lang="en-GB" sz="1500">
                <a:latin typeface="Lato"/>
                <a:ea typeface="Lato"/>
                <a:cs typeface="Lato"/>
                <a:sym typeface="Lato"/>
              </a:rPr>
              <a:t>The objective is to analyze the IT support ticket management system to understand the performance of IT agents, the efficiency of ticket resolution, and the satisfaction levels of employees. The analysis aims to identify high and low performers among IT agents, assess the overall effectiveness of the team, and pinpoint areas for improvement in the ticket resolution process. The ultimate goal is to make informed staffing decisions, including hiring, firing, and training, to enhance overall service quality and team performance.</a:t>
            </a:r>
            <a:endParaRPr b="0" i="0" sz="1500" u="none" cap="none" strike="noStrike">
              <a:solidFill>
                <a:srgbClr val="000000"/>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5"/>
          <p:cNvSpPr txBox="1"/>
          <p:nvPr/>
        </p:nvSpPr>
        <p:spPr>
          <a:xfrm>
            <a:off x="521850" y="581375"/>
            <a:ext cx="8100300" cy="369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Lato"/>
                <a:ea typeface="Lato"/>
                <a:cs typeface="Lato"/>
                <a:sym typeface="Lato"/>
              </a:rPr>
              <a:t>The image above displays details about</a:t>
            </a:r>
            <a:r>
              <a:rPr lang="en-GB" sz="1600">
                <a:solidFill>
                  <a:schemeClr val="dk1"/>
                </a:solidFill>
                <a:latin typeface="Lato"/>
                <a:ea typeface="Lato"/>
                <a:cs typeface="Lato"/>
                <a:sym typeface="Lato"/>
              </a:rPr>
              <a:t> IT Ticket Information,</a:t>
            </a:r>
            <a:r>
              <a:rPr b="0" i="0" lang="en-GB" sz="1600" u="none" cap="none" strike="noStrike">
                <a:solidFill>
                  <a:schemeClr val="dk1"/>
                </a:solidFill>
                <a:latin typeface="Lato"/>
                <a:ea typeface="Lato"/>
                <a:cs typeface="Lato"/>
                <a:sym typeface="Lato"/>
              </a:rPr>
              <a:t> including:</a:t>
            </a:r>
            <a:endParaRPr b="0" i="0" sz="16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5"/>
          <p:cNvSpPr txBox="1"/>
          <p:nvPr/>
        </p:nvSpPr>
        <p:spPr>
          <a:xfrm>
            <a:off x="4845225" y="1117075"/>
            <a:ext cx="3791100" cy="3835200"/>
          </a:xfrm>
          <a:prstGeom prst="rect">
            <a:avLst/>
          </a:prstGeom>
          <a:noFill/>
          <a:ln>
            <a:noFill/>
          </a:ln>
        </p:spPr>
        <p:txBody>
          <a:bodyPr anchorCtr="0" anchor="t" bIns="91425" lIns="91425" spcFirstLastPara="1" rIns="91425" wrap="square" tIns="91425">
            <a:noAutofit/>
          </a:bodyPr>
          <a:lstStyle/>
          <a:p>
            <a:pPr indent="-311150" lvl="0" marL="457200" rtl="0" algn="l">
              <a:lnSpc>
                <a:spcPct val="100000"/>
              </a:lnSpc>
              <a:spcBef>
                <a:spcPts val="0"/>
              </a:spcBef>
              <a:spcAft>
                <a:spcPts val="0"/>
              </a:spcAft>
              <a:buClr>
                <a:schemeClr val="dk1"/>
              </a:buClr>
              <a:buSzPts val="1300"/>
              <a:buChar char="●"/>
            </a:pPr>
            <a:r>
              <a:rPr b="1" lang="en-GB" sz="1300">
                <a:solidFill>
                  <a:schemeClr val="dk1"/>
                </a:solidFill>
                <a:latin typeface="Lato"/>
                <a:ea typeface="Lato"/>
                <a:cs typeface="Lato"/>
                <a:sym typeface="Lato"/>
              </a:rPr>
              <a:t>Resolution Time (Days): </a:t>
            </a:r>
            <a:r>
              <a:rPr lang="en-GB" sz="1300">
                <a:solidFill>
                  <a:schemeClr val="dk1"/>
                </a:solidFill>
                <a:latin typeface="Lato"/>
                <a:ea typeface="Lato"/>
                <a:cs typeface="Lato"/>
                <a:sym typeface="Lato"/>
              </a:rPr>
              <a:t>Time taken to resolve the ticket.</a:t>
            </a:r>
            <a:endParaRPr sz="1300">
              <a:solidFill>
                <a:schemeClr val="dk1"/>
              </a:solidFill>
              <a:latin typeface="Lato"/>
              <a:ea typeface="Lato"/>
              <a:cs typeface="Lato"/>
              <a:sym typeface="Lato"/>
            </a:endParaRPr>
          </a:p>
          <a:p>
            <a:pPr indent="-311150" lvl="0" marL="457200" rtl="0" algn="l">
              <a:lnSpc>
                <a:spcPct val="100000"/>
              </a:lnSpc>
              <a:spcBef>
                <a:spcPts val="1000"/>
              </a:spcBef>
              <a:spcAft>
                <a:spcPts val="0"/>
              </a:spcAft>
              <a:buClr>
                <a:schemeClr val="dk1"/>
              </a:buClr>
              <a:buSzPts val="1300"/>
              <a:buChar char="●"/>
            </a:pPr>
            <a:r>
              <a:rPr b="1" lang="en-GB" sz="1300">
                <a:solidFill>
                  <a:schemeClr val="dk1"/>
                </a:solidFill>
                <a:latin typeface="Lato"/>
                <a:ea typeface="Lato"/>
                <a:cs typeface="Lato"/>
                <a:sym typeface="Lato"/>
              </a:rPr>
              <a:t>Satisfaction Rate: </a:t>
            </a:r>
            <a:r>
              <a:rPr lang="en-GB" sz="1300">
                <a:solidFill>
                  <a:schemeClr val="dk1"/>
                </a:solidFill>
                <a:latin typeface="Lato"/>
                <a:ea typeface="Lato"/>
                <a:cs typeface="Lato"/>
                <a:sym typeface="Lato"/>
              </a:rPr>
              <a:t>Satisfaction rate provided by the employee (1-5 scale).</a:t>
            </a:r>
            <a:endParaRPr sz="1300">
              <a:solidFill>
                <a:schemeClr val="dk1"/>
              </a:solidFill>
              <a:latin typeface="Lato"/>
              <a:ea typeface="Lato"/>
              <a:cs typeface="Lato"/>
              <a:sym typeface="Lato"/>
            </a:endParaRPr>
          </a:p>
          <a:p>
            <a:pPr indent="0" lvl="0" marL="457200" rtl="0" algn="l">
              <a:lnSpc>
                <a:spcPct val="100000"/>
              </a:lnSpc>
              <a:spcBef>
                <a:spcPts val="1000"/>
              </a:spcBef>
              <a:spcAft>
                <a:spcPts val="0"/>
              </a:spcAft>
              <a:buNone/>
            </a:pPr>
            <a:r>
              <a:t/>
            </a:r>
            <a:endParaRPr sz="1300">
              <a:solidFill>
                <a:schemeClr val="dk1"/>
              </a:solidFill>
              <a:latin typeface="Lato"/>
              <a:ea typeface="Lato"/>
              <a:cs typeface="Lato"/>
              <a:sym typeface="Lato"/>
            </a:endParaRPr>
          </a:p>
          <a:p>
            <a:pPr indent="-311150" lvl="0" marL="457200" rtl="0" algn="l">
              <a:lnSpc>
                <a:spcPct val="100000"/>
              </a:lnSpc>
              <a:spcBef>
                <a:spcPts val="1000"/>
              </a:spcBef>
              <a:spcAft>
                <a:spcPts val="0"/>
              </a:spcAft>
              <a:buClr>
                <a:schemeClr val="dk1"/>
              </a:buClr>
              <a:buSzPts val="1300"/>
              <a:buFont typeface="Lato"/>
              <a:buChar char="➢"/>
            </a:pPr>
            <a:r>
              <a:rPr b="1" lang="en-GB" sz="1300">
                <a:solidFill>
                  <a:schemeClr val="dk1"/>
                </a:solidFill>
                <a:latin typeface="Lato"/>
                <a:ea typeface="Lato"/>
                <a:cs typeface="Lato"/>
                <a:sym typeface="Lato"/>
              </a:rPr>
              <a:t>IT Agents: </a:t>
            </a:r>
            <a:r>
              <a:rPr lang="en-GB" sz="1300">
                <a:solidFill>
                  <a:schemeClr val="dk1"/>
                </a:solidFill>
                <a:latin typeface="Lato"/>
                <a:ea typeface="Lato"/>
                <a:cs typeface="Lato"/>
                <a:sym typeface="Lato"/>
              </a:rPr>
              <a:t>Contains information about IT agents.</a:t>
            </a:r>
            <a:endParaRPr b="1" sz="1300">
              <a:solidFill>
                <a:schemeClr val="dk1"/>
              </a:solidFill>
              <a:latin typeface="Lato"/>
              <a:ea typeface="Lato"/>
              <a:cs typeface="Lato"/>
              <a:sym typeface="Lato"/>
            </a:endParaRPr>
          </a:p>
          <a:p>
            <a:pPr indent="-311150" lvl="0" marL="457200" rtl="0" algn="l">
              <a:lnSpc>
                <a:spcPct val="150000"/>
              </a:lnSpc>
              <a:spcBef>
                <a:spcPts val="0"/>
              </a:spcBef>
              <a:spcAft>
                <a:spcPts val="0"/>
              </a:spcAft>
              <a:buClr>
                <a:schemeClr val="dk1"/>
              </a:buClr>
              <a:buSzPts val="1300"/>
              <a:buChar char="●"/>
            </a:pPr>
            <a:r>
              <a:rPr b="1" lang="en-GB" sz="1300">
                <a:solidFill>
                  <a:schemeClr val="dk1"/>
                </a:solidFill>
                <a:latin typeface="Lato"/>
                <a:ea typeface="Lato"/>
                <a:cs typeface="Lato"/>
                <a:sym typeface="Lato"/>
              </a:rPr>
              <a:t>Agent ID: </a:t>
            </a:r>
            <a:r>
              <a:rPr lang="en-GB" sz="1300">
                <a:solidFill>
                  <a:schemeClr val="dk1"/>
                </a:solidFill>
                <a:latin typeface="Lato"/>
                <a:ea typeface="Lato"/>
                <a:cs typeface="Lato"/>
                <a:sym typeface="Lato"/>
              </a:rPr>
              <a:t>Unique identifier for the agent.</a:t>
            </a:r>
            <a:endParaRPr sz="1300">
              <a:solidFill>
                <a:schemeClr val="dk1"/>
              </a:solidFill>
              <a:latin typeface="Lato"/>
              <a:ea typeface="Lato"/>
              <a:cs typeface="Lato"/>
              <a:sym typeface="Lato"/>
            </a:endParaRPr>
          </a:p>
          <a:p>
            <a:pPr indent="-311150" lvl="0" marL="457200" rtl="0" algn="l">
              <a:lnSpc>
                <a:spcPct val="150000"/>
              </a:lnSpc>
              <a:spcBef>
                <a:spcPts val="0"/>
              </a:spcBef>
              <a:spcAft>
                <a:spcPts val="0"/>
              </a:spcAft>
              <a:buClr>
                <a:schemeClr val="dk1"/>
              </a:buClr>
              <a:buSzPts val="1300"/>
              <a:buChar char="●"/>
            </a:pPr>
            <a:r>
              <a:rPr b="1" lang="en-GB" sz="1300">
                <a:solidFill>
                  <a:schemeClr val="dk1"/>
                </a:solidFill>
                <a:latin typeface="Lato"/>
                <a:ea typeface="Lato"/>
                <a:cs typeface="Lato"/>
                <a:sym typeface="Lato"/>
              </a:rPr>
              <a:t>Full Name: </a:t>
            </a:r>
            <a:r>
              <a:rPr lang="en-GB" sz="1300">
                <a:solidFill>
                  <a:schemeClr val="dk1"/>
                </a:solidFill>
                <a:latin typeface="Lato"/>
                <a:ea typeface="Lato"/>
                <a:cs typeface="Lato"/>
                <a:sym typeface="Lato"/>
              </a:rPr>
              <a:t>Full name of the agent.</a:t>
            </a:r>
            <a:endParaRPr sz="1300">
              <a:solidFill>
                <a:schemeClr val="dk1"/>
              </a:solidFill>
              <a:latin typeface="Lato"/>
              <a:ea typeface="Lato"/>
              <a:cs typeface="Lato"/>
              <a:sym typeface="Lato"/>
            </a:endParaRPr>
          </a:p>
          <a:p>
            <a:pPr indent="-311150" lvl="0" marL="457200" rtl="0" algn="l">
              <a:lnSpc>
                <a:spcPct val="150000"/>
              </a:lnSpc>
              <a:spcBef>
                <a:spcPts val="0"/>
              </a:spcBef>
              <a:spcAft>
                <a:spcPts val="0"/>
              </a:spcAft>
              <a:buClr>
                <a:schemeClr val="dk1"/>
              </a:buClr>
              <a:buSzPts val="1300"/>
              <a:buChar char="●"/>
            </a:pPr>
            <a:r>
              <a:rPr b="1" lang="en-GB" sz="1300">
                <a:solidFill>
                  <a:schemeClr val="dk1"/>
                </a:solidFill>
                <a:latin typeface="Lato"/>
                <a:ea typeface="Lato"/>
                <a:cs typeface="Lato"/>
                <a:sym typeface="Lato"/>
              </a:rPr>
              <a:t>Email: </a:t>
            </a:r>
            <a:r>
              <a:rPr lang="en-GB" sz="1300">
                <a:solidFill>
                  <a:schemeClr val="dk1"/>
                </a:solidFill>
                <a:latin typeface="Lato"/>
                <a:ea typeface="Lato"/>
                <a:cs typeface="Lato"/>
                <a:sym typeface="Lato"/>
              </a:rPr>
              <a:t>Email address of the agent.</a:t>
            </a:r>
            <a:endParaRPr sz="1300">
              <a:solidFill>
                <a:schemeClr val="dk1"/>
              </a:solidFill>
              <a:latin typeface="Lato"/>
              <a:ea typeface="Lato"/>
              <a:cs typeface="Lato"/>
              <a:sym typeface="Lato"/>
            </a:endParaRPr>
          </a:p>
          <a:p>
            <a:pPr indent="-311150" lvl="0" marL="457200" rtl="0" algn="l">
              <a:lnSpc>
                <a:spcPct val="150000"/>
              </a:lnSpc>
              <a:spcBef>
                <a:spcPts val="0"/>
              </a:spcBef>
              <a:spcAft>
                <a:spcPts val="0"/>
              </a:spcAft>
              <a:buClr>
                <a:schemeClr val="dk1"/>
              </a:buClr>
              <a:buSzPts val="1300"/>
              <a:buChar char="●"/>
            </a:pPr>
            <a:r>
              <a:rPr b="1" lang="en-GB" sz="1300">
                <a:solidFill>
                  <a:schemeClr val="dk1"/>
                </a:solidFill>
                <a:latin typeface="Lato"/>
                <a:ea typeface="Lato"/>
                <a:cs typeface="Lato"/>
                <a:sym typeface="Lato"/>
              </a:rPr>
              <a:t>Year of Birth: </a:t>
            </a:r>
            <a:r>
              <a:rPr lang="en-GB" sz="1300">
                <a:solidFill>
                  <a:schemeClr val="dk1"/>
                </a:solidFill>
                <a:latin typeface="Lato"/>
                <a:ea typeface="Lato"/>
                <a:cs typeface="Lato"/>
                <a:sym typeface="Lato"/>
              </a:rPr>
              <a:t>Year the agent was born.</a:t>
            </a:r>
            <a:endParaRPr sz="1300">
              <a:solidFill>
                <a:schemeClr val="dk1"/>
              </a:solidFill>
              <a:latin typeface="Lato"/>
              <a:ea typeface="Lato"/>
              <a:cs typeface="Lato"/>
              <a:sym typeface="Lato"/>
            </a:endParaRPr>
          </a:p>
          <a:p>
            <a:pPr indent="-311150" lvl="0" marL="457200" rtl="0" algn="l">
              <a:lnSpc>
                <a:spcPct val="150000"/>
              </a:lnSpc>
              <a:spcBef>
                <a:spcPts val="0"/>
              </a:spcBef>
              <a:spcAft>
                <a:spcPts val="0"/>
              </a:spcAft>
              <a:buClr>
                <a:schemeClr val="dk1"/>
              </a:buClr>
              <a:buSzPts val="1300"/>
              <a:buChar char="●"/>
            </a:pPr>
            <a:r>
              <a:rPr b="1" lang="en-GB" sz="1300">
                <a:solidFill>
                  <a:schemeClr val="dk1"/>
                </a:solidFill>
                <a:latin typeface="Lato"/>
                <a:ea typeface="Lato"/>
                <a:cs typeface="Lato"/>
                <a:sym typeface="Lato"/>
              </a:rPr>
              <a:t>Month of Birth: </a:t>
            </a:r>
            <a:r>
              <a:rPr lang="en-GB" sz="1300">
                <a:solidFill>
                  <a:schemeClr val="dk1"/>
                </a:solidFill>
                <a:latin typeface="Lato"/>
                <a:ea typeface="Lato"/>
                <a:cs typeface="Lato"/>
                <a:sym typeface="Lato"/>
              </a:rPr>
              <a:t>Month the agent was born.</a:t>
            </a:r>
            <a:endParaRPr sz="1300">
              <a:solidFill>
                <a:schemeClr val="dk1"/>
              </a:solidFill>
              <a:latin typeface="Lato"/>
              <a:ea typeface="Lato"/>
              <a:cs typeface="Lato"/>
              <a:sym typeface="Lato"/>
            </a:endParaRPr>
          </a:p>
          <a:p>
            <a:pPr indent="-311150" lvl="0" marL="457200" rtl="0" algn="l">
              <a:lnSpc>
                <a:spcPct val="150000"/>
              </a:lnSpc>
              <a:spcBef>
                <a:spcPts val="0"/>
              </a:spcBef>
              <a:spcAft>
                <a:spcPts val="0"/>
              </a:spcAft>
              <a:buClr>
                <a:schemeClr val="dk1"/>
              </a:buClr>
              <a:buSzPts val="1300"/>
              <a:buChar char="●"/>
            </a:pPr>
            <a:r>
              <a:rPr b="1" lang="en-GB" sz="1300">
                <a:solidFill>
                  <a:schemeClr val="dk1"/>
                </a:solidFill>
                <a:latin typeface="Lato"/>
                <a:ea typeface="Lato"/>
                <a:cs typeface="Lato"/>
                <a:sym typeface="Lato"/>
              </a:rPr>
              <a:t>Day of Birth: </a:t>
            </a:r>
            <a:r>
              <a:rPr lang="en-GB" sz="1300">
                <a:solidFill>
                  <a:schemeClr val="dk1"/>
                </a:solidFill>
                <a:latin typeface="Lato"/>
                <a:ea typeface="Lato"/>
                <a:cs typeface="Lato"/>
                <a:sym typeface="Lato"/>
              </a:rPr>
              <a:t>Day the agent was born.</a:t>
            </a:r>
            <a:endParaRPr sz="1300">
              <a:solidFill>
                <a:schemeClr val="dk1"/>
              </a:solidFill>
              <a:latin typeface="Lato"/>
              <a:ea typeface="Lato"/>
              <a:cs typeface="Lato"/>
              <a:sym typeface="Lato"/>
            </a:endParaRPr>
          </a:p>
          <a:p>
            <a:pPr indent="0" lvl="0" marL="457200" marR="0" rtl="0" algn="l">
              <a:lnSpc>
                <a:spcPct val="115000"/>
              </a:lnSpc>
              <a:spcBef>
                <a:spcPts val="0"/>
              </a:spcBef>
              <a:spcAft>
                <a:spcPts val="0"/>
              </a:spcAft>
              <a:buNone/>
            </a:pPr>
            <a:r>
              <a:t/>
            </a:r>
            <a:endParaRPr b="1" sz="1300">
              <a:solidFill>
                <a:schemeClr val="dk1"/>
              </a:solidFill>
              <a:latin typeface="Lato"/>
              <a:ea typeface="Lato"/>
              <a:cs typeface="Lato"/>
              <a:sym typeface="Lato"/>
            </a:endParaRPr>
          </a:p>
        </p:txBody>
      </p:sp>
      <p:sp>
        <p:nvSpPr>
          <p:cNvPr id="73" name="Google Shape;73;p5"/>
          <p:cNvSpPr txBox="1"/>
          <p:nvPr/>
        </p:nvSpPr>
        <p:spPr>
          <a:xfrm>
            <a:off x="535625" y="1117075"/>
            <a:ext cx="4175100" cy="38352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chemeClr val="dk1"/>
              </a:buClr>
              <a:buSzPts val="1300"/>
              <a:buFont typeface="Lato"/>
              <a:buChar char="➢"/>
            </a:pPr>
            <a:r>
              <a:rPr b="1" lang="en-GB" sz="1300">
                <a:solidFill>
                  <a:schemeClr val="dk1"/>
                </a:solidFill>
                <a:latin typeface="Lato"/>
                <a:ea typeface="Lato"/>
                <a:cs typeface="Lato"/>
                <a:sym typeface="Lato"/>
              </a:rPr>
              <a:t>Tickets Sheet: </a:t>
            </a:r>
            <a:r>
              <a:rPr lang="en-GB" sz="1300">
                <a:solidFill>
                  <a:schemeClr val="dk1"/>
                </a:solidFill>
                <a:latin typeface="Lato"/>
                <a:ea typeface="Lato"/>
                <a:cs typeface="Lato"/>
                <a:sym typeface="Lato"/>
              </a:rPr>
              <a:t>Contains information about IT support tickets.</a:t>
            </a:r>
            <a:endParaRPr sz="1300">
              <a:solidFill>
                <a:schemeClr val="dk1"/>
              </a:solidFill>
              <a:latin typeface="Lato"/>
              <a:ea typeface="Lato"/>
              <a:cs typeface="Lato"/>
              <a:sym typeface="Lato"/>
            </a:endParaRPr>
          </a:p>
          <a:p>
            <a:pPr indent="-311150" lvl="0" marL="457200" rtl="0" algn="l">
              <a:lnSpc>
                <a:spcPct val="100000"/>
              </a:lnSpc>
              <a:spcBef>
                <a:spcPts val="0"/>
              </a:spcBef>
              <a:spcAft>
                <a:spcPts val="0"/>
              </a:spcAft>
              <a:buClr>
                <a:schemeClr val="dk1"/>
              </a:buClr>
              <a:buSzPts val="1300"/>
              <a:buChar char="●"/>
            </a:pPr>
            <a:r>
              <a:rPr b="1" lang="en-GB" sz="1300">
                <a:solidFill>
                  <a:schemeClr val="dk1"/>
                </a:solidFill>
                <a:latin typeface="Lato"/>
                <a:ea typeface="Lato"/>
                <a:cs typeface="Lato"/>
                <a:sym typeface="Lato"/>
              </a:rPr>
              <a:t>ID: </a:t>
            </a:r>
            <a:r>
              <a:rPr lang="en-GB" sz="1300">
                <a:solidFill>
                  <a:schemeClr val="dk1"/>
                </a:solidFill>
                <a:latin typeface="Lato"/>
                <a:ea typeface="Lato"/>
                <a:cs typeface="Lato"/>
                <a:sym typeface="Lato"/>
              </a:rPr>
              <a:t>Unique identifier for the ticket.</a:t>
            </a:r>
            <a:endParaRPr sz="1300">
              <a:solidFill>
                <a:schemeClr val="dk1"/>
              </a:solidFill>
              <a:latin typeface="Lato"/>
              <a:ea typeface="Lato"/>
              <a:cs typeface="Lato"/>
              <a:sym typeface="Lato"/>
            </a:endParaRPr>
          </a:p>
          <a:p>
            <a:pPr indent="-311150" lvl="0" marL="457200" rtl="0" algn="l">
              <a:lnSpc>
                <a:spcPct val="100000"/>
              </a:lnSpc>
              <a:spcBef>
                <a:spcPts val="1000"/>
              </a:spcBef>
              <a:spcAft>
                <a:spcPts val="0"/>
              </a:spcAft>
              <a:buClr>
                <a:schemeClr val="dk1"/>
              </a:buClr>
              <a:buSzPts val="1300"/>
              <a:buChar char="●"/>
            </a:pPr>
            <a:r>
              <a:rPr b="1" lang="en-GB" sz="1300">
                <a:solidFill>
                  <a:schemeClr val="dk1"/>
                </a:solidFill>
                <a:latin typeface="Lato"/>
                <a:ea typeface="Lato"/>
                <a:cs typeface="Lato"/>
                <a:sym typeface="Lato"/>
              </a:rPr>
              <a:t>Ticket Fecha: </a:t>
            </a:r>
            <a:r>
              <a:rPr lang="en-GB" sz="1300">
                <a:solidFill>
                  <a:schemeClr val="dk1"/>
                </a:solidFill>
                <a:latin typeface="Lato"/>
                <a:ea typeface="Lato"/>
                <a:cs typeface="Lato"/>
                <a:sym typeface="Lato"/>
              </a:rPr>
              <a:t>Date of the ticket.</a:t>
            </a:r>
            <a:endParaRPr sz="1300">
              <a:solidFill>
                <a:schemeClr val="dk1"/>
              </a:solidFill>
              <a:latin typeface="Lato"/>
              <a:ea typeface="Lato"/>
              <a:cs typeface="Lato"/>
              <a:sym typeface="Lato"/>
            </a:endParaRPr>
          </a:p>
          <a:p>
            <a:pPr indent="-311150" lvl="0" marL="457200" rtl="0" algn="l">
              <a:lnSpc>
                <a:spcPct val="100000"/>
              </a:lnSpc>
              <a:spcBef>
                <a:spcPts val="1000"/>
              </a:spcBef>
              <a:spcAft>
                <a:spcPts val="0"/>
              </a:spcAft>
              <a:buClr>
                <a:schemeClr val="dk1"/>
              </a:buClr>
              <a:buSzPts val="1300"/>
              <a:buChar char="●"/>
            </a:pPr>
            <a:r>
              <a:rPr b="1" lang="en-GB" sz="1300">
                <a:solidFill>
                  <a:schemeClr val="dk1"/>
                </a:solidFill>
                <a:latin typeface="Lato"/>
                <a:ea typeface="Lato"/>
                <a:cs typeface="Lato"/>
                <a:sym typeface="Lato"/>
              </a:rPr>
              <a:t>Employee ID:</a:t>
            </a:r>
            <a:r>
              <a:rPr lang="en-GB" sz="1300">
                <a:solidFill>
                  <a:schemeClr val="dk1"/>
                </a:solidFill>
                <a:latin typeface="Lato"/>
                <a:ea typeface="Lato"/>
                <a:cs typeface="Lato"/>
                <a:sym typeface="Lato"/>
              </a:rPr>
              <a:t> ID of the employee who raised the ticket.</a:t>
            </a:r>
            <a:endParaRPr sz="1300">
              <a:solidFill>
                <a:schemeClr val="dk1"/>
              </a:solidFill>
              <a:latin typeface="Lato"/>
              <a:ea typeface="Lato"/>
              <a:cs typeface="Lato"/>
              <a:sym typeface="Lato"/>
            </a:endParaRPr>
          </a:p>
          <a:p>
            <a:pPr indent="-311150" lvl="0" marL="457200" rtl="0" algn="l">
              <a:lnSpc>
                <a:spcPct val="100000"/>
              </a:lnSpc>
              <a:spcBef>
                <a:spcPts val="1000"/>
              </a:spcBef>
              <a:spcAft>
                <a:spcPts val="0"/>
              </a:spcAft>
              <a:buClr>
                <a:schemeClr val="dk1"/>
              </a:buClr>
              <a:buSzPts val="1300"/>
              <a:buChar char="●"/>
            </a:pPr>
            <a:r>
              <a:rPr b="1" lang="en-GB" sz="1300">
                <a:solidFill>
                  <a:schemeClr val="dk1"/>
                </a:solidFill>
                <a:latin typeface="Lato"/>
                <a:ea typeface="Lato"/>
                <a:cs typeface="Lato"/>
                <a:sym typeface="Lato"/>
              </a:rPr>
              <a:t>Agent ID:</a:t>
            </a:r>
            <a:r>
              <a:rPr lang="en-GB" sz="1300">
                <a:solidFill>
                  <a:schemeClr val="dk1"/>
                </a:solidFill>
                <a:latin typeface="Lato"/>
                <a:ea typeface="Lato"/>
                <a:cs typeface="Lato"/>
                <a:sym typeface="Lato"/>
              </a:rPr>
              <a:t> ID of the agent assigned to the ticket.</a:t>
            </a:r>
            <a:endParaRPr sz="1300">
              <a:solidFill>
                <a:schemeClr val="dk1"/>
              </a:solidFill>
              <a:latin typeface="Lato"/>
              <a:ea typeface="Lato"/>
              <a:cs typeface="Lato"/>
              <a:sym typeface="Lato"/>
            </a:endParaRPr>
          </a:p>
          <a:p>
            <a:pPr indent="-311150" lvl="0" marL="457200" rtl="0" algn="l">
              <a:lnSpc>
                <a:spcPct val="100000"/>
              </a:lnSpc>
              <a:spcBef>
                <a:spcPts val="1000"/>
              </a:spcBef>
              <a:spcAft>
                <a:spcPts val="0"/>
              </a:spcAft>
              <a:buClr>
                <a:schemeClr val="dk1"/>
              </a:buClr>
              <a:buSzPts val="1300"/>
              <a:buChar char="●"/>
            </a:pPr>
            <a:r>
              <a:rPr b="1" lang="en-GB" sz="1300">
                <a:solidFill>
                  <a:schemeClr val="dk1"/>
                </a:solidFill>
                <a:latin typeface="Lato"/>
                <a:ea typeface="Lato"/>
                <a:cs typeface="Lato"/>
                <a:sym typeface="Lato"/>
              </a:rPr>
              <a:t>Request Category:</a:t>
            </a:r>
            <a:r>
              <a:rPr lang="en-GB" sz="1300">
                <a:solidFill>
                  <a:schemeClr val="dk1"/>
                </a:solidFill>
                <a:latin typeface="Lato"/>
                <a:ea typeface="Lato"/>
                <a:cs typeface="Lato"/>
                <a:sym typeface="Lato"/>
              </a:rPr>
              <a:t> Category of the request (e.g., Login Access, System, Software).</a:t>
            </a:r>
            <a:endParaRPr sz="1300">
              <a:solidFill>
                <a:schemeClr val="dk1"/>
              </a:solidFill>
              <a:latin typeface="Lato"/>
              <a:ea typeface="Lato"/>
              <a:cs typeface="Lato"/>
              <a:sym typeface="Lato"/>
            </a:endParaRPr>
          </a:p>
          <a:p>
            <a:pPr indent="-311150" lvl="0" marL="457200" rtl="0" algn="l">
              <a:lnSpc>
                <a:spcPct val="100000"/>
              </a:lnSpc>
              <a:spcBef>
                <a:spcPts val="1000"/>
              </a:spcBef>
              <a:spcAft>
                <a:spcPts val="0"/>
              </a:spcAft>
              <a:buClr>
                <a:schemeClr val="dk1"/>
              </a:buClr>
              <a:buSzPts val="1300"/>
              <a:buChar char="●"/>
            </a:pPr>
            <a:r>
              <a:rPr b="1" lang="en-GB" sz="1300">
                <a:solidFill>
                  <a:schemeClr val="dk1"/>
                </a:solidFill>
                <a:latin typeface="Lato"/>
                <a:ea typeface="Lato"/>
                <a:cs typeface="Lato"/>
                <a:sym typeface="Lato"/>
              </a:rPr>
              <a:t>Issue Type: </a:t>
            </a:r>
            <a:r>
              <a:rPr lang="en-GB" sz="1300">
                <a:solidFill>
                  <a:schemeClr val="dk1"/>
                </a:solidFill>
                <a:latin typeface="Lato"/>
                <a:ea typeface="Lato"/>
                <a:cs typeface="Lato"/>
                <a:sym typeface="Lato"/>
              </a:rPr>
              <a:t>Type of issue (e.g., IT Error, IT Request).</a:t>
            </a:r>
            <a:endParaRPr sz="1300">
              <a:solidFill>
                <a:schemeClr val="dk1"/>
              </a:solidFill>
              <a:latin typeface="Lato"/>
              <a:ea typeface="Lato"/>
              <a:cs typeface="Lato"/>
              <a:sym typeface="Lato"/>
            </a:endParaRPr>
          </a:p>
          <a:p>
            <a:pPr indent="-311150" lvl="0" marL="457200" rtl="0" algn="l">
              <a:lnSpc>
                <a:spcPct val="100000"/>
              </a:lnSpc>
              <a:spcBef>
                <a:spcPts val="1000"/>
              </a:spcBef>
              <a:spcAft>
                <a:spcPts val="0"/>
              </a:spcAft>
              <a:buClr>
                <a:schemeClr val="dk1"/>
              </a:buClr>
              <a:buSzPts val="1300"/>
              <a:buChar char="●"/>
            </a:pPr>
            <a:r>
              <a:rPr lang="en-GB" sz="1300">
                <a:solidFill>
                  <a:schemeClr val="dk1"/>
                </a:solidFill>
                <a:latin typeface="Lato"/>
                <a:ea typeface="Lato"/>
                <a:cs typeface="Lato"/>
                <a:sym typeface="Lato"/>
              </a:rPr>
              <a:t>Severity: Severity of the issue.</a:t>
            </a:r>
            <a:endParaRPr sz="1300">
              <a:solidFill>
                <a:schemeClr val="dk1"/>
              </a:solidFill>
              <a:latin typeface="Lato"/>
              <a:ea typeface="Lato"/>
              <a:cs typeface="Lato"/>
              <a:sym typeface="Lato"/>
            </a:endParaRPr>
          </a:p>
          <a:p>
            <a:pPr indent="-311150" lvl="0" marL="457200" rtl="0" algn="l">
              <a:lnSpc>
                <a:spcPct val="100000"/>
              </a:lnSpc>
              <a:spcBef>
                <a:spcPts val="1000"/>
              </a:spcBef>
              <a:spcAft>
                <a:spcPts val="0"/>
              </a:spcAft>
              <a:buClr>
                <a:schemeClr val="dk1"/>
              </a:buClr>
              <a:buSzPts val="1300"/>
              <a:buChar char="●"/>
            </a:pPr>
            <a:r>
              <a:rPr b="1" lang="en-GB" sz="1300">
                <a:solidFill>
                  <a:schemeClr val="dk1"/>
                </a:solidFill>
                <a:latin typeface="Lato"/>
                <a:ea typeface="Lato"/>
                <a:cs typeface="Lato"/>
                <a:sym typeface="Lato"/>
              </a:rPr>
              <a:t>Priority: </a:t>
            </a:r>
            <a:r>
              <a:rPr lang="en-GB" sz="1300">
                <a:solidFill>
                  <a:schemeClr val="dk1"/>
                </a:solidFill>
                <a:latin typeface="Lato"/>
                <a:ea typeface="Lato"/>
                <a:cs typeface="Lato"/>
                <a:sym typeface="Lato"/>
              </a:rPr>
              <a:t>Priority level of the issue.</a:t>
            </a:r>
            <a:endParaRPr sz="1300">
              <a:solidFill>
                <a:schemeClr val="dk1"/>
              </a:solidFill>
              <a:latin typeface="Lato"/>
              <a:ea typeface="Lato"/>
              <a:cs typeface="Lato"/>
              <a:sym typeface="Lato"/>
            </a:endParaRPr>
          </a:p>
          <a:p>
            <a:pPr indent="0" lvl="0" marL="0" marR="0" rtl="0" algn="l">
              <a:lnSpc>
                <a:spcPct val="115000"/>
              </a:lnSpc>
              <a:spcBef>
                <a:spcPts val="1000"/>
              </a:spcBef>
              <a:spcAft>
                <a:spcPts val="0"/>
              </a:spcAft>
              <a:buClr>
                <a:srgbClr val="000000"/>
              </a:buClr>
              <a:buSzPts val="1200"/>
              <a:buFont typeface="Arial"/>
              <a:buNone/>
            </a:pPr>
            <a:r>
              <a:t/>
            </a:r>
            <a:endParaRPr b="1" i="0" sz="1200" u="none" cap="none" strike="noStrike">
              <a:solidFill>
                <a:schemeClr val="dk1"/>
              </a:solidFill>
              <a:latin typeface="Lato"/>
              <a:ea typeface="Lato"/>
              <a:cs typeface="Lato"/>
              <a:sym typeface="Lato"/>
            </a:endParaRPr>
          </a:p>
          <a:p>
            <a:pPr indent="0" lvl="0" marL="457200" marR="0" rtl="0" algn="l">
              <a:lnSpc>
                <a:spcPct val="115000"/>
              </a:lnSpc>
              <a:spcBef>
                <a:spcPts val="0"/>
              </a:spcBef>
              <a:spcAft>
                <a:spcPts val="0"/>
              </a:spcAft>
              <a:buClr>
                <a:schemeClr val="dk1"/>
              </a:buClr>
              <a:buSzPts val="1100"/>
              <a:buFont typeface="Arial"/>
              <a:buNone/>
            </a:pPr>
            <a:r>
              <a:t/>
            </a:r>
            <a:endParaRPr b="1" i="0" sz="1800" u="none" cap="none" strike="noStrike">
              <a:solidFill>
                <a:schemeClr val="dk1"/>
              </a:solidFill>
              <a:latin typeface="Lato"/>
              <a:ea typeface="Lato"/>
              <a:cs typeface="Lato"/>
              <a:sym typeface="Lato"/>
            </a:endParaRPr>
          </a:p>
          <a:p>
            <a:pPr indent="0" lvl="0" marL="45720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dk1"/>
              </a:solidFill>
              <a:latin typeface="Lato"/>
              <a:ea typeface="Lato"/>
              <a:cs typeface="Lato"/>
              <a:sym typeface="Lato"/>
            </a:endParaRPr>
          </a:p>
          <a:p>
            <a:pPr indent="0" lvl="0" marL="45720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chemeClr val="dk1"/>
              </a:buClr>
              <a:buSzPts val="1100"/>
              <a:buFont typeface="Arial"/>
              <a:buNone/>
            </a:pPr>
            <a:r>
              <a:t/>
            </a:r>
            <a:endParaRPr b="0" i="0" sz="1800" u="none" cap="none" strike="noStrike">
              <a:solidFill>
                <a:schemeClr val="dk1"/>
              </a:solidFill>
              <a:latin typeface="Lato"/>
              <a:ea typeface="Lato"/>
              <a:cs typeface="Lato"/>
              <a:sym typeface="Lato"/>
            </a:endParaRPr>
          </a:p>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6"/>
          <p:cNvSpPr txBox="1"/>
          <p:nvPr/>
        </p:nvSpPr>
        <p:spPr>
          <a:xfrm>
            <a:off x="338550" y="533475"/>
            <a:ext cx="8466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6"/>
          <p:cNvSpPr txBox="1"/>
          <p:nvPr/>
        </p:nvSpPr>
        <p:spPr>
          <a:xfrm>
            <a:off x="338550" y="4116000"/>
            <a:ext cx="8654700" cy="554400"/>
          </a:xfrm>
          <a:prstGeom prst="rect">
            <a:avLst/>
          </a:prstGeom>
          <a:noFill/>
          <a:ln>
            <a:noFill/>
          </a:ln>
        </p:spPr>
        <p:txBody>
          <a:bodyPr anchorCtr="0" anchor="t" bIns="91425" lIns="91425" spcFirstLastPara="1" rIns="91425" wrap="square" tIns="91425">
            <a:noAutofit/>
          </a:bodyPr>
          <a:lstStyle/>
          <a:p>
            <a:pPr indent="457200" lvl="0" marL="91440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Use this </a:t>
            </a:r>
            <a:r>
              <a:rPr b="1" i="0" lang="en-GB" sz="1400" u="sng" cap="none" strike="noStrike">
                <a:solidFill>
                  <a:schemeClr val="hlink"/>
                </a:solidFill>
                <a:latin typeface="Arial"/>
                <a:ea typeface="Arial"/>
                <a:cs typeface="Arial"/>
                <a:sym typeface="Arial"/>
                <a:hlinkClick r:id="rId3"/>
              </a:rPr>
              <a:t>Link</a:t>
            </a:r>
            <a:r>
              <a:rPr b="0" i="0" lang="en-GB" sz="1400" u="none" cap="none" strike="noStrike">
                <a:solidFill>
                  <a:srgbClr val="000000"/>
                </a:solidFill>
                <a:latin typeface="Arial"/>
                <a:ea typeface="Arial"/>
                <a:cs typeface="Arial"/>
                <a:sym typeface="Arial"/>
              </a:rPr>
              <a:t> for copying and then manipulating the dataset.</a:t>
            </a:r>
            <a:endParaRPr b="0" i="0" sz="1400" u="none" cap="none" strike="noStrike">
              <a:solidFill>
                <a:srgbClr val="000000"/>
              </a:solidFill>
              <a:latin typeface="Arial"/>
              <a:ea typeface="Arial"/>
              <a:cs typeface="Arial"/>
              <a:sym typeface="Arial"/>
            </a:endParaRPr>
          </a:p>
        </p:txBody>
      </p:sp>
      <p:pic>
        <p:nvPicPr>
          <p:cNvPr id="80" name="Google Shape;80;p6"/>
          <p:cNvPicPr preferRelativeResize="0"/>
          <p:nvPr/>
        </p:nvPicPr>
        <p:blipFill rotWithShape="1">
          <a:blip r:embed="rId4">
            <a:alphaModFix/>
          </a:blip>
          <a:srcRect b="0" l="0" r="0" t="0"/>
          <a:stretch/>
        </p:blipFill>
        <p:spPr>
          <a:xfrm>
            <a:off x="2727737" y="1235300"/>
            <a:ext cx="3688525" cy="25790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7"/>
          <p:cNvSpPr txBox="1"/>
          <p:nvPr/>
        </p:nvSpPr>
        <p:spPr>
          <a:xfrm>
            <a:off x="519550" y="476250"/>
            <a:ext cx="8197200" cy="4271700"/>
          </a:xfrm>
          <a:prstGeom prst="rect">
            <a:avLst/>
          </a:prstGeom>
          <a:noFill/>
          <a:ln>
            <a:noFill/>
          </a:ln>
        </p:spPr>
        <p:txBody>
          <a:bodyPr anchorCtr="0" anchor="t" bIns="91425" lIns="91425" spcFirstLastPara="1" rIns="91425" wrap="square" tIns="91425">
            <a:noAutofit/>
          </a:bodyPr>
          <a:lstStyle/>
          <a:p>
            <a:pPr indent="0" lvl="0" marL="3200400" marR="0" rtl="0" algn="l">
              <a:lnSpc>
                <a:spcPct val="100000"/>
              </a:lnSpc>
              <a:spcBef>
                <a:spcPts val="0"/>
              </a:spcBef>
              <a:spcAft>
                <a:spcPts val="0"/>
              </a:spcAft>
              <a:buClr>
                <a:srgbClr val="000000"/>
              </a:buClr>
              <a:buSzPts val="2500"/>
              <a:buFont typeface="Arial"/>
              <a:buNone/>
            </a:pPr>
            <a:r>
              <a:rPr b="1" i="0" lang="en-GB" sz="2500" u="none" cap="none" strike="noStrike">
                <a:solidFill>
                  <a:schemeClr val="dk1"/>
                </a:solidFill>
                <a:latin typeface="Arial"/>
                <a:ea typeface="Arial"/>
                <a:cs typeface="Arial"/>
                <a:sym typeface="Arial"/>
              </a:rPr>
              <a:t>Submission</a:t>
            </a:r>
            <a:endParaRPr b="1" i="0" sz="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000000"/>
                </a:solidFill>
                <a:latin typeface="Arial"/>
                <a:ea typeface="Arial"/>
                <a:cs typeface="Arial"/>
                <a:sym typeface="Arial"/>
              </a:rPr>
              <a:t>There is a </a:t>
            </a:r>
            <a:r>
              <a:rPr b="1" i="0" lang="en-GB" sz="1600" u="none" cap="none" strike="noStrike">
                <a:solidFill>
                  <a:srgbClr val="000000"/>
                </a:solidFill>
                <a:latin typeface="Arial"/>
                <a:ea typeface="Arial"/>
                <a:cs typeface="Arial"/>
                <a:sym typeface="Arial"/>
              </a:rPr>
              <a:t>series of tasks/questions</a:t>
            </a:r>
            <a:r>
              <a:rPr b="0" i="0" lang="en-GB" sz="1600" u="none" cap="none" strike="noStrike">
                <a:solidFill>
                  <a:srgbClr val="000000"/>
                </a:solidFill>
                <a:latin typeface="Arial"/>
                <a:ea typeface="Arial"/>
                <a:cs typeface="Arial"/>
                <a:sym typeface="Arial"/>
              </a:rPr>
              <a:t> mentioned ahead in the Project, in order to guide the candidates to have suggestions, insights for the management.</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000000"/>
                </a:solidFill>
                <a:latin typeface="Arial"/>
                <a:ea typeface="Arial"/>
                <a:cs typeface="Arial"/>
                <a:sym typeface="Arial"/>
              </a:rPr>
              <a:t>Imagine you have to present the submitted PPT file to the senior management using which you are giving the suggestions as per the requirement with the </a:t>
            </a:r>
            <a:r>
              <a:rPr b="1" i="0" lang="en-GB" sz="1600" u="none" cap="none" strike="noStrike">
                <a:solidFill>
                  <a:srgbClr val="000000"/>
                </a:solidFill>
                <a:latin typeface="Arial"/>
                <a:ea typeface="Arial"/>
                <a:cs typeface="Arial"/>
                <a:sym typeface="Arial"/>
              </a:rPr>
              <a:t>reasoning/help of dashboard, visualizations or tables</a:t>
            </a:r>
            <a:r>
              <a:rPr b="0" i="0" lang="en-GB" sz="1600" u="none" cap="none" strike="noStrike">
                <a:solidFill>
                  <a:srgbClr val="000000"/>
                </a:solidFill>
                <a:latin typeface="Arial"/>
                <a:ea typeface="Arial"/>
                <a:cs typeface="Arial"/>
                <a:sym typeface="Arial"/>
              </a:rPr>
              <a:t> you’ve created.</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000000"/>
                </a:solidFill>
                <a:latin typeface="Arial"/>
                <a:ea typeface="Arial"/>
                <a:cs typeface="Arial"/>
                <a:sym typeface="Arial"/>
              </a:rPr>
              <a:t>The submission Zip file should consist of the following three documents:</a:t>
            </a:r>
            <a:endParaRPr b="0" i="0" sz="1600" u="none" cap="none" strike="noStrike">
              <a:solidFill>
                <a:srgbClr val="000000"/>
              </a:solidFill>
              <a:latin typeface="Arial"/>
              <a:ea typeface="Arial"/>
              <a:cs typeface="Arial"/>
              <a:sym typeface="Arial"/>
            </a:endParaRPr>
          </a:p>
          <a:p>
            <a:pPr indent="-330200" lvl="0" marL="914400" marR="0" rtl="0" algn="l">
              <a:lnSpc>
                <a:spcPct val="100000"/>
              </a:lnSpc>
              <a:spcBef>
                <a:spcPts val="0"/>
              </a:spcBef>
              <a:spcAft>
                <a:spcPts val="0"/>
              </a:spcAft>
              <a:buClr>
                <a:srgbClr val="000000"/>
              </a:buClr>
              <a:buSzPts val="1600"/>
              <a:buFont typeface="Arial"/>
              <a:buAutoNum type="arabicPeriod"/>
            </a:pPr>
            <a:r>
              <a:rPr b="1" i="0" lang="en-GB" sz="1600" u="none" cap="none" strike="noStrike">
                <a:solidFill>
                  <a:srgbClr val="000000"/>
                </a:solidFill>
                <a:latin typeface="Arial"/>
                <a:ea typeface="Arial"/>
                <a:cs typeface="Arial"/>
                <a:sym typeface="Arial"/>
              </a:rPr>
              <a:t>Excel File</a:t>
            </a:r>
            <a:r>
              <a:rPr b="0" i="0" lang="en-GB" sz="1600" u="none" cap="none" strike="noStrike">
                <a:solidFill>
                  <a:srgbClr val="000000"/>
                </a:solidFill>
                <a:latin typeface="Arial"/>
                <a:ea typeface="Arial"/>
                <a:cs typeface="Arial"/>
                <a:sym typeface="Arial"/>
              </a:rPr>
              <a:t> (.xlsx) (consisting of dashboard)</a:t>
            </a:r>
            <a:endParaRPr b="0" i="0" sz="1600" u="none" cap="none" strike="noStrike">
              <a:solidFill>
                <a:srgbClr val="000000"/>
              </a:solidFill>
              <a:latin typeface="Arial"/>
              <a:ea typeface="Arial"/>
              <a:cs typeface="Arial"/>
              <a:sym typeface="Arial"/>
            </a:endParaRPr>
          </a:p>
          <a:p>
            <a:pPr indent="-330200" lvl="0" marL="914400" marR="0" rtl="0" algn="l">
              <a:lnSpc>
                <a:spcPct val="100000"/>
              </a:lnSpc>
              <a:spcBef>
                <a:spcPts val="0"/>
              </a:spcBef>
              <a:spcAft>
                <a:spcPts val="0"/>
              </a:spcAft>
              <a:buClr>
                <a:srgbClr val="000000"/>
              </a:buClr>
              <a:buSzPts val="1600"/>
              <a:buFont typeface="Arial"/>
              <a:buAutoNum type="arabicPeriod"/>
            </a:pPr>
            <a:r>
              <a:rPr b="1" i="0" lang="en-GB" sz="1600" u="none" cap="none" strike="noStrike">
                <a:solidFill>
                  <a:srgbClr val="000000"/>
                </a:solidFill>
                <a:latin typeface="Arial"/>
                <a:ea typeface="Arial"/>
                <a:cs typeface="Arial"/>
                <a:sym typeface="Arial"/>
              </a:rPr>
              <a:t>Document File</a:t>
            </a:r>
            <a:r>
              <a:rPr b="0" i="0" lang="en-GB" sz="1600" u="none" cap="none" strike="noStrike">
                <a:solidFill>
                  <a:srgbClr val="000000"/>
                </a:solidFill>
                <a:latin typeface="Arial"/>
                <a:ea typeface="Arial"/>
                <a:cs typeface="Arial"/>
                <a:sym typeface="Arial"/>
              </a:rPr>
              <a:t> (.docx) (consisting of Answers and suggestions for Objective and subjective questions)</a:t>
            </a:r>
            <a:endParaRPr b="0" i="0" sz="1600" u="none" cap="none" strike="noStrike">
              <a:solidFill>
                <a:srgbClr val="000000"/>
              </a:solidFill>
              <a:latin typeface="Arial"/>
              <a:ea typeface="Arial"/>
              <a:cs typeface="Arial"/>
              <a:sym typeface="Arial"/>
            </a:endParaRPr>
          </a:p>
          <a:p>
            <a:pPr indent="-330200" lvl="0" marL="914400" marR="0" rtl="0" algn="l">
              <a:lnSpc>
                <a:spcPct val="100000"/>
              </a:lnSpc>
              <a:spcBef>
                <a:spcPts val="0"/>
              </a:spcBef>
              <a:spcAft>
                <a:spcPts val="0"/>
              </a:spcAft>
              <a:buClr>
                <a:srgbClr val="000000"/>
              </a:buClr>
              <a:buSzPts val="1600"/>
              <a:buFont typeface="Arial"/>
              <a:buAutoNum type="arabicPeriod"/>
            </a:pPr>
            <a:r>
              <a:rPr b="1" i="0" lang="en-GB" sz="1600" u="none" cap="none" strike="noStrike">
                <a:solidFill>
                  <a:srgbClr val="000000"/>
                </a:solidFill>
                <a:latin typeface="Arial"/>
                <a:ea typeface="Arial"/>
                <a:cs typeface="Arial"/>
                <a:sym typeface="Arial"/>
              </a:rPr>
              <a:t>Presentation</a:t>
            </a:r>
            <a:r>
              <a:rPr b="0" i="0" lang="en-GB" sz="1600" u="none" cap="none" strike="noStrike">
                <a:solidFill>
                  <a:srgbClr val="000000"/>
                </a:solidFill>
                <a:latin typeface="Arial"/>
                <a:ea typeface="Arial"/>
                <a:cs typeface="Arial"/>
                <a:sym typeface="Arial"/>
              </a:rPr>
              <a:t> </a:t>
            </a:r>
            <a:r>
              <a:rPr b="1" i="0" lang="en-GB" sz="1600" u="none" cap="none" strike="noStrike">
                <a:solidFill>
                  <a:srgbClr val="000000"/>
                </a:solidFill>
                <a:latin typeface="Arial"/>
                <a:ea typeface="Arial"/>
                <a:cs typeface="Arial"/>
                <a:sym typeface="Arial"/>
              </a:rPr>
              <a:t>File </a:t>
            </a:r>
            <a:r>
              <a:rPr b="0" i="0" lang="en-GB" sz="1600" u="none" cap="none" strike="noStrike">
                <a:solidFill>
                  <a:srgbClr val="000000"/>
                </a:solidFill>
                <a:latin typeface="Arial"/>
                <a:ea typeface="Arial"/>
                <a:cs typeface="Arial"/>
                <a:sym typeface="Arial"/>
              </a:rPr>
              <a:t>(.pptx) (consisting of the presentation which you want to present to the management)</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8"/>
          <p:cNvSpPr txBox="1"/>
          <p:nvPr/>
        </p:nvSpPr>
        <p:spPr>
          <a:xfrm>
            <a:off x="519550" y="476250"/>
            <a:ext cx="8197200" cy="427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700"/>
              <a:buFont typeface="Arial"/>
              <a:buNone/>
            </a:pPr>
            <a:r>
              <a:t/>
            </a:r>
            <a:endParaRPr b="1" i="0" sz="3700" u="none" cap="none" strike="noStrike">
              <a:solidFill>
                <a:srgbClr val="000000"/>
              </a:solidFill>
              <a:latin typeface="Arial"/>
              <a:ea typeface="Arial"/>
              <a:cs typeface="Arial"/>
              <a:sym typeface="Arial"/>
            </a:endParaRPr>
          </a:p>
          <a:p>
            <a:pPr indent="0" lvl="0" marL="3200400" marR="0" rtl="0" algn="l">
              <a:lnSpc>
                <a:spcPct val="100000"/>
              </a:lnSpc>
              <a:spcBef>
                <a:spcPts val="0"/>
              </a:spcBef>
              <a:spcAft>
                <a:spcPts val="0"/>
              </a:spcAft>
              <a:buClr>
                <a:srgbClr val="000000"/>
              </a:buClr>
              <a:buSzPts val="3700"/>
              <a:buFont typeface="Arial"/>
              <a:buNone/>
            </a:pPr>
            <a:r>
              <a:rPr b="1" i="0" lang="en-GB" sz="3700" u="none" cap="none" strike="noStrike">
                <a:solidFill>
                  <a:srgbClr val="000000"/>
                </a:solidFill>
                <a:latin typeface="Arial"/>
                <a:ea typeface="Arial"/>
                <a:cs typeface="Arial"/>
                <a:sym typeface="Arial"/>
              </a:rPr>
              <a:t>Tasks</a:t>
            </a:r>
            <a:endParaRPr b="1" i="0" sz="3700" u="none" cap="none" strike="noStrike">
              <a:solidFill>
                <a:srgbClr val="000000"/>
              </a:solidFill>
              <a:latin typeface="Arial"/>
              <a:ea typeface="Arial"/>
              <a:cs typeface="Arial"/>
              <a:sym typeface="Arial"/>
            </a:endParaRPr>
          </a:p>
          <a:p>
            <a:pPr indent="457200" lvl="0" marL="914400" marR="0" rtl="0" algn="l">
              <a:lnSpc>
                <a:spcPct val="100000"/>
              </a:lnSpc>
              <a:spcBef>
                <a:spcPts val="0"/>
              </a:spcBef>
              <a:spcAft>
                <a:spcPts val="0"/>
              </a:spcAft>
              <a:buClr>
                <a:srgbClr val="000000"/>
              </a:buClr>
              <a:buSzPts val="3400"/>
              <a:buFont typeface="Arial"/>
              <a:buNone/>
            </a:pPr>
            <a:r>
              <a:rPr b="1" i="0" lang="en-GB" sz="3400" u="none" cap="none" strike="noStrike">
                <a:solidFill>
                  <a:srgbClr val="000000"/>
                </a:solidFill>
                <a:latin typeface="Arial"/>
                <a:ea typeface="Arial"/>
                <a:cs typeface="Arial"/>
                <a:sym typeface="Arial"/>
              </a:rPr>
              <a:t>		</a:t>
            </a:r>
            <a:r>
              <a:rPr b="1" i="0" lang="en-GB" sz="1600" u="none" cap="none" strike="noStrike">
                <a:solidFill>
                  <a:srgbClr val="000000"/>
                </a:solidFill>
                <a:latin typeface="Arial"/>
                <a:ea typeface="Arial"/>
                <a:cs typeface="Arial"/>
                <a:sym typeface="Arial"/>
              </a:rPr>
              <a:t>…</a:t>
            </a:r>
            <a:r>
              <a:rPr b="0" i="0" lang="en-GB" sz="1700" u="none" cap="none" strike="noStrike">
                <a:solidFill>
                  <a:schemeClr val="dk1"/>
                </a:solidFill>
                <a:latin typeface="Arial"/>
                <a:ea typeface="Arial"/>
                <a:cs typeface="Arial"/>
                <a:sym typeface="Arial"/>
              </a:rPr>
              <a:t>Tasks in order to come up with expansion suggestions</a:t>
            </a:r>
            <a:endParaRPr b="1" i="0" sz="3400" u="none" cap="none" strike="noStrike">
              <a:solidFill>
                <a:srgbClr val="000000"/>
              </a:solidFill>
              <a:latin typeface="Arial"/>
              <a:ea typeface="Arial"/>
              <a:cs typeface="Arial"/>
              <a:sym typeface="Arial"/>
            </a:endParaRPr>
          </a:p>
        </p:txBody>
      </p:sp>
      <p:pic>
        <p:nvPicPr>
          <p:cNvPr id="91" name="Google Shape;91;p8"/>
          <p:cNvPicPr preferRelativeResize="0"/>
          <p:nvPr/>
        </p:nvPicPr>
        <p:blipFill rotWithShape="1">
          <a:blip r:embed="rId3">
            <a:alphaModFix/>
          </a:blip>
          <a:srcRect b="0" l="0" r="0" t="0"/>
          <a:stretch/>
        </p:blipFill>
        <p:spPr>
          <a:xfrm>
            <a:off x="5625575" y="3164375"/>
            <a:ext cx="3518425" cy="1979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9"/>
          <p:cNvSpPr txBox="1"/>
          <p:nvPr/>
        </p:nvSpPr>
        <p:spPr>
          <a:xfrm>
            <a:off x="1944750" y="428725"/>
            <a:ext cx="52545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14000"/>
              </a:lnSpc>
              <a:spcBef>
                <a:spcPts val="0"/>
              </a:spcBef>
              <a:spcAft>
                <a:spcPts val="0"/>
              </a:spcAft>
              <a:buClr>
                <a:srgbClr val="000000"/>
              </a:buClr>
              <a:buSzPts val="1800"/>
              <a:buFont typeface="Arial"/>
              <a:buNone/>
            </a:pPr>
            <a:r>
              <a:rPr b="1" i="0" lang="en-GB" sz="1800" u="none" cap="none" strike="noStrike">
                <a:solidFill>
                  <a:schemeClr val="dk1"/>
                </a:solidFill>
                <a:latin typeface="Lato"/>
                <a:ea typeface="Lato"/>
                <a:cs typeface="Lato"/>
                <a:sym typeface="Lato"/>
              </a:rPr>
              <a:t>Objective Questions</a:t>
            </a:r>
            <a:endParaRPr b="0" i="0" sz="1800" u="none" cap="none" strike="noStrike">
              <a:solidFill>
                <a:srgbClr val="000000"/>
              </a:solidFill>
              <a:latin typeface="Lato"/>
              <a:ea typeface="Lato"/>
              <a:cs typeface="Lato"/>
              <a:sym typeface="Lato"/>
            </a:endParaRPr>
          </a:p>
        </p:txBody>
      </p:sp>
      <p:sp>
        <p:nvSpPr>
          <p:cNvPr id="97" name="Google Shape;97;p9"/>
          <p:cNvSpPr txBox="1"/>
          <p:nvPr/>
        </p:nvSpPr>
        <p:spPr>
          <a:xfrm>
            <a:off x="546600" y="962875"/>
            <a:ext cx="8050800" cy="3810600"/>
          </a:xfrm>
          <a:prstGeom prst="rect">
            <a:avLst/>
          </a:prstGeom>
          <a:noFill/>
          <a:ln>
            <a:noFill/>
          </a:ln>
        </p:spPr>
        <p:txBody>
          <a:bodyPr anchorCtr="0" anchor="t" bIns="91425" lIns="91425" spcFirstLastPara="1" rIns="91425" wrap="square" tIns="91425">
            <a:spAutoFit/>
          </a:bodyPr>
          <a:lstStyle/>
          <a:p>
            <a:pPr indent="-323850" lvl="0" marL="457200" marR="0" rtl="0" algn="l">
              <a:lnSpc>
                <a:spcPct val="114000"/>
              </a:lnSpc>
              <a:spcBef>
                <a:spcPts val="1000"/>
              </a:spcBef>
              <a:spcAft>
                <a:spcPts val="0"/>
              </a:spcAft>
              <a:buClr>
                <a:schemeClr val="dk1"/>
              </a:buClr>
              <a:buSzPts val="1500"/>
              <a:buFont typeface="Lato"/>
              <a:buChar char="➔"/>
            </a:pPr>
            <a:r>
              <a:rPr b="1" i="0" lang="en-GB" sz="1500" u="none" cap="none" strike="noStrike">
                <a:solidFill>
                  <a:schemeClr val="dk1"/>
                </a:solidFill>
                <a:latin typeface="Lato"/>
                <a:ea typeface="Lato"/>
                <a:cs typeface="Lato"/>
                <a:sym typeface="Lato"/>
              </a:rPr>
              <a:t>What is the total no. of attributes present in the data?</a:t>
            </a:r>
            <a:endParaRPr b="1" i="0" sz="1500" u="none" cap="none" strike="noStrike">
              <a:solidFill>
                <a:schemeClr val="dk1"/>
              </a:solidFill>
              <a:latin typeface="Lato"/>
              <a:ea typeface="Lato"/>
              <a:cs typeface="Lato"/>
              <a:sym typeface="Lato"/>
            </a:endParaRPr>
          </a:p>
          <a:p>
            <a:pPr indent="-323850" lvl="0" marL="457200" marR="0" rtl="0" algn="l">
              <a:lnSpc>
                <a:spcPct val="114000"/>
              </a:lnSpc>
              <a:spcBef>
                <a:spcPts val="1000"/>
              </a:spcBef>
              <a:spcAft>
                <a:spcPts val="0"/>
              </a:spcAft>
              <a:buClr>
                <a:schemeClr val="dk1"/>
              </a:buClr>
              <a:buSzPts val="1500"/>
              <a:buFont typeface="Lato"/>
              <a:buChar char="➔"/>
            </a:pPr>
            <a:r>
              <a:rPr b="1" lang="en-GB" sz="1500">
                <a:solidFill>
                  <a:schemeClr val="dk1"/>
                </a:solidFill>
                <a:latin typeface="Lato"/>
                <a:ea typeface="Lato"/>
                <a:cs typeface="Lato"/>
                <a:sym typeface="Lato"/>
              </a:rPr>
              <a:t>Which columns have inconsistent or missing values, and what is the count of such values?</a:t>
            </a:r>
            <a:endParaRPr b="1" i="0" sz="1500" u="none" cap="none" strike="noStrike">
              <a:solidFill>
                <a:schemeClr val="dk1"/>
              </a:solidFill>
              <a:latin typeface="Lato"/>
              <a:ea typeface="Lato"/>
              <a:cs typeface="Lato"/>
              <a:sym typeface="Lato"/>
            </a:endParaRPr>
          </a:p>
          <a:p>
            <a:pPr indent="-304800" lvl="0" marL="457200" marR="0" rtl="0" algn="l">
              <a:lnSpc>
                <a:spcPct val="114000"/>
              </a:lnSpc>
              <a:spcBef>
                <a:spcPts val="1000"/>
              </a:spcBef>
              <a:spcAft>
                <a:spcPts val="0"/>
              </a:spcAft>
              <a:buClr>
                <a:schemeClr val="dk1"/>
              </a:buClr>
              <a:buSzPts val="1200"/>
              <a:buFont typeface="Lato"/>
              <a:buChar char="➔"/>
            </a:pPr>
            <a:r>
              <a:rPr b="1" lang="en-GB" sz="1500">
                <a:solidFill>
                  <a:schemeClr val="dk1"/>
                </a:solidFill>
                <a:latin typeface="Lato"/>
                <a:ea typeface="Lato"/>
                <a:cs typeface="Lato"/>
                <a:sym typeface="Lato"/>
              </a:rPr>
              <a:t>What is the average daily ticket volume over time?</a:t>
            </a:r>
            <a:endParaRPr b="0" i="0" sz="1500" u="none" cap="none" strike="noStrike">
              <a:solidFill>
                <a:schemeClr val="dk1"/>
              </a:solidFill>
              <a:latin typeface="Lato"/>
              <a:ea typeface="Lato"/>
              <a:cs typeface="Lato"/>
              <a:sym typeface="Lato"/>
            </a:endParaRPr>
          </a:p>
          <a:p>
            <a:pPr indent="-304800" lvl="0" marL="457200" marR="0" rtl="0" algn="l">
              <a:lnSpc>
                <a:spcPct val="114000"/>
              </a:lnSpc>
              <a:spcBef>
                <a:spcPts val="1000"/>
              </a:spcBef>
              <a:spcAft>
                <a:spcPts val="0"/>
              </a:spcAft>
              <a:buClr>
                <a:schemeClr val="dk1"/>
              </a:buClr>
              <a:buSzPts val="1200"/>
              <a:buFont typeface="Lato"/>
              <a:buChar char="➔"/>
            </a:pPr>
            <a:r>
              <a:rPr b="1" lang="en-GB" sz="1500">
                <a:solidFill>
                  <a:schemeClr val="dk1"/>
                </a:solidFill>
                <a:latin typeface="Lato"/>
                <a:ea typeface="Lato"/>
                <a:cs typeface="Lato"/>
                <a:sym typeface="Lato"/>
              </a:rPr>
              <a:t>What is the distribution of ticket categories (e.g., Login Access, System, Software)?</a:t>
            </a:r>
            <a:endParaRPr b="1" i="0" sz="1500" u="none" cap="none" strike="noStrike">
              <a:solidFill>
                <a:schemeClr val="dk1"/>
              </a:solidFill>
              <a:latin typeface="Lato"/>
              <a:ea typeface="Lato"/>
              <a:cs typeface="Lato"/>
              <a:sym typeface="Lato"/>
            </a:endParaRPr>
          </a:p>
          <a:p>
            <a:pPr indent="-304800" lvl="0" marL="457200" marR="0" rtl="0" algn="l">
              <a:lnSpc>
                <a:spcPct val="114000"/>
              </a:lnSpc>
              <a:spcBef>
                <a:spcPts val="1000"/>
              </a:spcBef>
              <a:spcAft>
                <a:spcPts val="0"/>
              </a:spcAft>
              <a:buClr>
                <a:schemeClr val="dk1"/>
              </a:buClr>
              <a:buSzPts val="1200"/>
              <a:buFont typeface="Lato"/>
              <a:buChar char="➔"/>
            </a:pPr>
            <a:r>
              <a:rPr b="1" lang="en-GB" sz="1500">
                <a:solidFill>
                  <a:schemeClr val="dk1"/>
                </a:solidFill>
                <a:latin typeface="Lato"/>
                <a:ea typeface="Lato"/>
                <a:cs typeface="Lato"/>
                <a:sym typeface="Lato"/>
              </a:rPr>
              <a:t>How many tickets has each agent handled?</a:t>
            </a:r>
            <a:endParaRPr b="1" i="0" sz="1500" u="none" cap="none" strike="noStrike">
              <a:solidFill>
                <a:schemeClr val="dk1"/>
              </a:solidFill>
              <a:latin typeface="Lato"/>
              <a:ea typeface="Lato"/>
              <a:cs typeface="Lato"/>
              <a:sym typeface="Lato"/>
            </a:endParaRPr>
          </a:p>
          <a:p>
            <a:pPr indent="-304800" lvl="0" marL="457200" marR="0" rtl="0" algn="l">
              <a:lnSpc>
                <a:spcPct val="114000"/>
              </a:lnSpc>
              <a:spcBef>
                <a:spcPts val="1000"/>
              </a:spcBef>
              <a:spcAft>
                <a:spcPts val="0"/>
              </a:spcAft>
              <a:buClr>
                <a:schemeClr val="dk1"/>
              </a:buClr>
              <a:buSzPts val="1200"/>
              <a:buFont typeface="Lato"/>
              <a:buChar char="➔"/>
            </a:pPr>
            <a:r>
              <a:rPr b="1" lang="en-GB" sz="1500">
                <a:solidFill>
                  <a:schemeClr val="dk1"/>
                </a:solidFill>
                <a:latin typeface="Lato"/>
                <a:ea typeface="Lato"/>
                <a:cs typeface="Lato"/>
                <a:sym typeface="Lato"/>
              </a:rPr>
              <a:t>How can you extract the domain from the email addresses in the IT Agents sheet?</a:t>
            </a:r>
            <a:endParaRPr b="1" i="0" sz="1500" u="none" cap="none" strike="noStrike">
              <a:solidFill>
                <a:schemeClr val="dk1"/>
              </a:solidFill>
              <a:latin typeface="Lato"/>
              <a:ea typeface="Lato"/>
              <a:cs typeface="Lato"/>
              <a:sym typeface="Lato"/>
            </a:endParaRPr>
          </a:p>
          <a:p>
            <a:pPr indent="-304800" lvl="0" marL="457200" marR="0" rtl="0" algn="l">
              <a:lnSpc>
                <a:spcPct val="114000"/>
              </a:lnSpc>
              <a:spcBef>
                <a:spcPts val="1000"/>
              </a:spcBef>
              <a:spcAft>
                <a:spcPts val="0"/>
              </a:spcAft>
              <a:buClr>
                <a:schemeClr val="dk1"/>
              </a:buClr>
              <a:buSzPts val="1200"/>
              <a:buFont typeface="Lato"/>
              <a:buChar char="➔"/>
            </a:pPr>
            <a:r>
              <a:rPr b="1" lang="en-GB" sz="1500">
                <a:solidFill>
                  <a:schemeClr val="dk1"/>
                </a:solidFill>
                <a:latin typeface="Lato"/>
                <a:ea typeface="Lato"/>
                <a:cs typeface="Lato"/>
                <a:sym typeface="Lato"/>
              </a:rPr>
              <a:t>How can you find the full name of an agent given their Agent ID?</a:t>
            </a:r>
            <a:endParaRPr b="1" sz="1500">
              <a:solidFill>
                <a:schemeClr val="dk1"/>
              </a:solidFill>
              <a:latin typeface="Lato"/>
              <a:ea typeface="Lato"/>
              <a:cs typeface="Lato"/>
              <a:sym typeface="Lato"/>
            </a:endParaRPr>
          </a:p>
          <a:p>
            <a:pPr indent="-304800" lvl="0" marL="457200" marR="0" rtl="0" algn="l">
              <a:lnSpc>
                <a:spcPct val="114000"/>
              </a:lnSpc>
              <a:spcBef>
                <a:spcPts val="1000"/>
              </a:spcBef>
              <a:spcAft>
                <a:spcPts val="0"/>
              </a:spcAft>
              <a:buClr>
                <a:schemeClr val="dk1"/>
              </a:buClr>
              <a:buSzPts val="1200"/>
              <a:buFont typeface="Lato"/>
              <a:buChar char="➔"/>
            </a:pPr>
            <a:r>
              <a:rPr b="1" lang="en-GB" sz="1500">
                <a:solidFill>
                  <a:schemeClr val="dk1"/>
                </a:solidFill>
                <a:latin typeface="Lato"/>
                <a:ea typeface="Lato"/>
                <a:cs typeface="Lato"/>
                <a:sym typeface="Lato"/>
              </a:rPr>
              <a:t>What is the count of each issue type (e.g., IT Error, IT Request)?</a:t>
            </a:r>
            <a:endParaRPr b="1" sz="1500">
              <a:solidFill>
                <a:schemeClr val="dk1"/>
              </a:solidFill>
              <a:latin typeface="Lato"/>
              <a:ea typeface="Lato"/>
              <a:cs typeface="Lato"/>
              <a:sym typeface="Lato"/>
            </a:endParaRPr>
          </a:p>
          <a:p>
            <a:pPr indent="-323850" lvl="0" marL="457200" marR="0" rtl="0" algn="l">
              <a:lnSpc>
                <a:spcPct val="114000"/>
              </a:lnSpc>
              <a:spcBef>
                <a:spcPts val="1000"/>
              </a:spcBef>
              <a:spcAft>
                <a:spcPts val="1000"/>
              </a:spcAft>
              <a:buClr>
                <a:schemeClr val="dk1"/>
              </a:buClr>
              <a:buSzPts val="1500"/>
              <a:buFont typeface="Lato"/>
              <a:buChar char="➔"/>
            </a:pPr>
            <a:r>
              <a:rPr b="1" lang="en-GB" sz="1500">
                <a:solidFill>
                  <a:schemeClr val="dk1"/>
                </a:solidFill>
                <a:latin typeface="Lato"/>
                <a:ea typeface="Lato"/>
                <a:cs typeface="Lato"/>
                <a:sym typeface="Lato"/>
              </a:rPr>
              <a:t>What is the daily average resolution time for tickets?</a:t>
            </a:r>
            <a:endParaRPr b="1" sz="1500">
              <a:solidFill>
                <a:schemeClr val="dk1"/>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2b6e91aa64b_1_0"/>
          <p:cNvSpPr txBox="1"/>
          <p:nvPr/>
        </p:nvSpPr>
        <p:spPr>
          <a:xfrm>
            <a:off x="1944750" y="514325"/>
            <a:ext cx="52545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14000"/>
              </a:lnSpc>
              <a:spcBef>
                <a:spcPts val="0"/>
              </a:spcBef>
              <a:spcAft>
                <a:spcPts val="0"/>
              </a:spcAft>
              <a:buClr>
                <a:srgbClr val="000000"/>
              </a:buClr>
              <a:buSzPts val="1800"/>
              <a:buFont typeface="Arial"/>
              <a:buNone/>
            </a:pPr>
            <a:r>
              <a:rPr b="1" i="0" lang="en-GB" sz="1800" u="none" cap="none" strike="noStrike">
                <a:solidFill>
                  <a:schemeClr val="dk1"/>
                </a:solidFill>
                <a:latin typeface="Lato"/>
                <a:ea typeface="Lato"/>
                <a:cs typeface="Lato"/>
                <a:sym typeface="Lato"/>
              </a:rPr>
              <a:t>Objective Questions (Cont..)</a:t>
            </a:r>
            <a:endParaRPr b="0" i="0" sz="1800" u="none" cap="none" strike="noStrike">
              <a:solidFill>
                <a:srgbClr val="000000"/>
              </a:solidFill>
              <a:latin typeface="Lato"/>
              <a:ea typeface="Lato"/>
              <a:cs typeface="Lato"/>
              <a:sym typeface="Lato"/>
            </a:endParaRPr>
          </a:p>
        </p:txBody>
      </p:sp>
      <p:sp>
        <p:nvSpPr>
          <p:cNvPr id="103" name="Google Shape;103;g2b6e91aa64b_1_0"/>
          <p:cNvSpPr txBox="1"/>
          <p:nvPr/>
        </p:nvSpPr>
        <p:spPr>
          <a:xfrm>
            <a:off x="1039500" y="1281350"/>
            <a:ext cx="7065000" cy="21471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50000"/>
              </a:lnSpc>
              <a:spcBef>
                <a:spcPts val="0"/>
              </a:spcBef>
              <a:spcAft>
                <a:spcPts val="0"/>
              </a:spcAft>
              <a:buClr>
                <a:schemeClr val="dk1"/>
              </a:buClr>
              <a:buSzPts val="1200"/>
              <a:buFont typeface="Lato"/>
              <a:buChar char="➔"/>
            </a:pPr>
            <a:r>
              <a:rPr b="1" lang="en-GB" sz="1500">
                <a:solidFill>
                  <a:schemeClr val="dk1"/>
                </a:solidFill>
                <a:latin typeface="Lato"/>
                <a:ea typeface="Lato"/>
                <a:cs typeface="Lato"/>
                <a:sym typeface="Lato"/>
              </a:rPr>
              <a:t>How has the volume of tickets changed over time?</a:t>
            </a:r>
            <a:endParaRPr b="1" sz="1500">
              <a:solidFill>
                <a:schemeClr val="dk1"/>
              </a:solidFill>
              <a:latin typeface="Lato"/>
              <a:ea typeface="Lato"/>
              <a:cs typeface="Lato"/>
              <a:sym typeface="Lato"/>
            </a:endParaRPr>
          </a:p>
          <a:p>
            <a:pPr indent="-323850" lvl="0" marL="457200" marR="0" rtl="0" algn="l">
              <a:lnSpc>
                <a:spcPct val="150000"/>
              </a:lnSpc>
              <a:spcBef>
                <a:spcPts val="0"/>
              </a:spcBef>
              <a:spcAft>
                <a:spcPts val="0"/>
              </a:spcAft>
              <a:buClr>
                <a:schemeClr val="dk1"/>
              </a:buClr>
              <a:buSzPts val="1500"/>
              <a:buFont typeface="Lato"/>
              <a:buChar char="➔"/>
            </a:pPr>
            <a:r>
              <a:rPr b="1" lang="en-GB" sz="1500">
                <a:solidFill>
                  <a:schemeClr val="dk1"/>
                </a:solidFill>
                <a:latin typeface="Lato"/>
                <a:ea typeface="Lato"/>
                <a:cs typeface="Lato"/>
                <a:sym typeface="Lato"/>
              </a:rPr>
              <a:t>What is the average age of the IT agents?</a:t>
            </a:r>
            <a:endParaRPr b="1" sz="1500">
              <a:solidFill>
                <a:schemeClr val="dk1"/>
              </a:solidFill>
              <a:latin typeface="Lato"/>
              <a:ea typeface="Lato"/>
              <a:cs typeface="Lato"/>
              <a:sym typeface="Lato"/>
            </a:endParaRPr>
          </a:p>
          <a:p>
            <a:pPr indent="-304800" lvl="0" marL="457200" marR="0" rtl="0" algn="l">
              <a:lnSpc>
                <a:spcPct val="150000"/>
              </a:lnSpc>
              <a:spcBef>
                <a:spcPts val="0"/>
              </a:spcBef>
              <a:spcAft>
                <a:spcPts val="0"/>
              </a:spcAft>
              <a:buClr>
                <a:schemeClr val="dk1"/>
              </a:buClr>
              <a:buSzPts val="1200"/>
              <a:buFont typeface="Lato"/>
              <a:buChar char="➔"/>
            </a:pPr>
            <a:r>
              <a:rPr b="1" lang="en-GB" sz="1500">
                <a:solidFill>
                  <a:schemeClr val="dk1"/>
                </a:solidFill>
                <a:latin typeface="Lato"/>
                <a:ea typeface="Lato"/>
                <a:cs typeface="Lato"/>
                <a:sym typeface="Lato"/>
              </a:rPr>
              <a:t>Is there a correlation between the severity of issues and the resolution time?</a:t>
            </a:r>
            <a:endParaRPr b="1" i="0" sz="1500" u="none" cap="none" strike="noStrike">
              <a:solidFill>
                <a:schemeClr val="dk1"/>
              </a:solidFill>
              <a:latin typeface="Lato"/>
              <a:ea typeface="Lato"/>
              <a:cs typeface="Lato"/>
              <a:sym typeface="Lato"/>
            </a:endParaRPr>
          </a:p>
          <a:p>
            <a:pPr indent="-304800" lvl="0" marL="457200" marR="0" rtl="0" algn="l">
              <a:lnSpc>
                <a:spcPct val="150000"/>
              </a:lnSpc>
              <a:spcBef>
                <a:spcPts val="0"/>
              </a:spcBef>
              <a:spcAft>
                <a:spcPts val="0"/>
              </a:spcAft>
              <a:buClr>
                <a:schemeClr val="dk1"/>
              </a:buClr>
              <a:buSzPts val="1200"/>
              <a:buFont typeface="Lato"/>
              <a:buChar char="➔"/>
            </a:pPr>
            <a:r>
              <a:rPr b="1" i="0" lang="en-GB" sz="1500" u="none" cap="none" strike="noStrike">
                <a:solidFill>
                  <a:schemeClr val="dk1"/>
                </a:solidFill>
                <a:latin typeface="Lato"/>
                <a:ea typeface="Lato"/>
                <a:cs typeface="Lato"/>
                <a:sym typeface="Lato"/>
              </a:rPr>
              <a:t>How many categorical columns are there in the data? </a:t>
            </a:r>
            <a:r>
              <a:rPr b="0" i="0" lang="en-GB" sz="1500" u="none" cap="none" strike="noStrike">
                <a:solidFill>
                  <a:schemeClr val="dk1"/>
                </a:solidFill>
                <a:latin typeface="Lato"/>
                <a:ea typeface="Lato"/>
                <a:cs typeface="Lato"/>
                <a:sym typeface="Lato"/>
              </a:rPr>
              <a:t>[Search about categorical and continuous data, and try to answer this question]</a:t>
            </a:r>
            <a:endParaRPr b="0" i="0" sz="1500" u="none" cap="none" strike="noStrike">
              <a:solidFill>
                <a:schemeClr val="dk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0"/>
          <p:cNvSpPr txBox="1"/>
          <p:nvPr/>
        </p:nvSpPr>
        <p:spPr>
          <a:xfrm>
            <a:off x="944525" y="811050"/>
            <a:ext cx="7515000" cy="3798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GB" sz="1700" u="none" cap="none" strike="noStrike">
                <a:solidFill>
                  <a:srgbClr val="000000"/>
                </a:solidFill>
                <a:latin typeface="Arial"/>
                <a:ea typeface="Arial"/>
                <a:cs typeface="Arial"/>
                <a:sym typeface="Arial"/>
              </a:rPr>
              <a:t>In order to answer the next </a:t>
            </a:r>
            <a:r>
              <a:rPr b="1" i="0" lang="en-GB" sz="1700" u="none" cap="none" strike="noStrike">
                <a:solidFill>
                  <a:srgbClr val="000000"/>
                </a:solidFill>
                <a:latin typeface="Arial"/>
                <a:ea typeface="Arial"/>
                <a:cs typeface="Arial"/>
                <a:sym typeface="Arial"/>
              </a:rPr>
              <a:t>data analysis</a:t>
            </a:r>
            <a:r>
              <a:rPr b="0" i="0" lang="en-GB" sz="1700" u="none" cap="none" strike="noStrike">
                <a:solidFill>
                  <a:srgbClr val="000000"/>
                </a:solidFill>
                <a:latin typeface="Arial"/>
                <a:ea typeface="Arial"/>
                <a:cs typeface="Arial"/>
                <a:sym typeface="Arial"/>
              </a:rPr>
              <a:t> questions you will have to </a:t>
            </a:r>
            <a:r>
              <a:rPr b="1" i="0" lang="en-GB" sz="1700" u="none" cap="none" strike="noStrike">
                <a:solidFill>
                  <a:srgbClr val="000000"/>
                </a:solidFill>
                <a:latin typeface="Arial"/>
                <a:ea typeface="Arial"/>
                <a:cs typeface="Arial"/>
                <a:sym typeface="Arial"/>
              </a:rPr>
              <a:t>create Dashboards and visualizations</a:t>
            </a:r>
            <a:r>
              <a:rPr b="0" i="0" lang="en-GB" sz="1700" u="none" cap="none" strike="noStrike">
                <a:solidFill>
                  <a:srgbClr val="000000"/>
                </a:solidFill>
                <a:latin typeface="Arial"/>
                <a:ea typeface="Arial"/>
                <a:cs typeface="Arial"/>
                <a:sym typeface="Arial"/>
              </a:rPr>
              <a:t> (Can choose few </a:t>
            </a:r>
            <a:r>
              <a:rPr b="1" i="0" lang="en-GB" sz="1700" u="none" cap="none" strike="noStrike">
                <a:solidFill>
                  <a:srgbClr val="000000"/>
                </a:solidFill>
                <a:latin typeface="Arial"/>
                <a:ea typeface="Arial"/>
                <a:cs typeface="Arial"/>
                <a:sym typeface="Arial"/>
              </a:rPr>
              <a:t>pivot tables </a:t>
            </a:r>
            <a:r>
              <a:rPr b="0" i="0" lang="en-GB" sz="1700" u="none" cap="none" strike="noStrike">
                <a:solidFill>
                  <a:srgbClr val="000000"/>
                </a:solidFill>
                <a:latin typeface="Arial"/>
                <a:ea typeface="Arial"/>
                <a:cs typeface="Arial"/>
                <a:sym typeface="Arial"/>
              </a:rPr>
              <a:t>as well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GB" sz="1700" u="none" cap="none" strike="noStrike">
                <a:solidFill>
                  <a:srgbClr val="000000"/>
                </a:solidFill>
                <a:latin typeface="Arial"/>
                <a:ea typeface="Arial"/>
                <a:cs typeface="Arial"/>
                <a:sym typeface="Arial"/>
              </a:rPr>
              <a:t>For answering these questions you need to properly </a:t>
            </a:r>
            <a:r>
              <a:rPr b="1" i="0" lang="en-GB" sz="1700" u="none" cap="none" strike="noStrike">
                <a:solidFill>
                  <a:srgbClr val="000000"/>
                </a:solidFill>
                <a:latin typeface="Arial"/>
                <a:ea typeface="Arial"/>
                <a:cs typeface="Arial"/>
                <a:sym typeface="Arial"/>
              </a:rPr>
              <a:t>analyze the data through summarization, dashboard and visualizations to give the insights</a:t>
            </a:r>
            <a:r>
              <a:rPr b="0" i="0" lang="en-GB" sz="1700" u="none" cap="none" strike="noStrike">
                <a:solidFill>
                  <a:srgbClr val="000000"/>
                </a:solidFill>
                <a:latin typeface="Arial"/>
                <a:ea typeface="Arial"/>
                <a:cs typeface="Arial"/>
                <a:sym typeface="Arial"/>
              </a:rPr>
              <a:t>. Back your suggestions/insights </a:t>
            </a:r>
            <a:r>
              <a:rPr b="1" i="0" lang="en-GB" sz="1700" u="none" cap="none" strike="noStrike">
                <a:solidFill>
                  <a:srgbClr val="000000"/>
                </a:solidFill>
                <a:latin typeface="Arial"/>
                <a:ea typeface="Arial"/>
                <a:cs typeface="Arial"/>
                <a:sym typeface="Arial"/>
              </a:rPr>
              <a:t>with proper reasoning</a:t>
            </a:r>
            <a:r>
              <a:rPr b="0" i="0" lang="en-GB" sz="1700" u="none" cap="none" strike="noStrike">
                <a:solidFill>
                  <a:srgbClr val="000000"/>
                </a:solidFill>
                <a:latin typeface="Arial"/>
                <a:ea typeface="Arial"/>
                <a:cs typeface="Arial"/>
                <a:sym typeface="Arial"/>
              </a:rPr>
              <a:t> considering the data.</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1"/>
          <p:cNvSpPr txBox="1"/>
          <p:nvPr/>
        </p:nvSpPr>
        <p:spPr>
          <a:xfrm>
            <a:off x="677900" y="398850"/>
            <a:ext cx="60696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4000"/>
              </a:lnSpc>
              <a:spcBef>
                <a:spcPts val="0"/>
              </a:spcBef>
              <a:spcAft>
                <a:spcPts val="0"/>
              </a:spcAft>
              <a:buClr>
                <a:srgbClr val="000000"/>
              </a:buClr>
              <a:buSzPts val="2200"/>
              <a:buFont typeface="Arial"/>
              <a:buNone/>
            </a:pPr>
            <a:r>
              <a:rPr b="1" i="0" lang="en-GB" sz="1800" u="none" cap="none" strike="noStrike">
                <a:solidFill>
                  <a:schemeClr val="dk1"/>
                </a:solidFill>
                <a:latin typeface="Lato"/>
                <a:ea typeface="Lato"/>
                <a:cs typeface="Lato"/>
                <a:sym typeface="Lato"/>
              </a:rPr>
              <a:t>Data Analysis and Visualizations</a:t>
            </a:r>
            <a:r>
              <a:rPr b="1" i="0" lang="en-GB" sz="2000" u="none" cap="none" strike="noStrike">
                <a:solidFill>
                  <a:schemeClr val="dk1"/>
                </a:solidFill>
                <a:latin typeface="Lato"/>
                <a:ea typeface="Lato"/>
                <a:cs typeface="Lato"/>
                <a:sym typeface="Lato"/>
              </a:rPr>
              <a:t> </a:t>
            </a:r>
            <a:r>
              <a:rPr b="0" i="0" lang="en-GB" sz="1400" u="none" cap="none" strike="noStrike">
                <a:solidFill>
                  <a:schemeClr val="dk1"/>
                </a:solidFill>
                <a:latin typeface="Lato"/>
                <a:ea typeface="Lato"/>
                <a:cs typeface="Lato"/>
                <a:sym typeface="Lato"/>
              </a:rPr>
              <a:t>(Subjective Question)</a:t>
            </a:r>
            <a:endParaRPr b="0" i="0" sz="1400" u="none" cap="none" strike="noStrike">
              <a:solidFill>
                <a:srgbClr val="000000"/>
              </a:solidFill>
              <a:latin typeface="Lato"/>
              <a:ea typeface="Lato"/>
              <a:cs typeface="Lato"/>
              <a:sym typeface="Lato"/>
            </a:endParaRPr>
          </a:p>
        </p:txBody>
      </p:sp>
      <p:sp>
        <p:nvSpPr>
          <p:cNvPr id="114" name="Google Shape;114;p11"/>
          <p:cNvSpPr txBox="1"/>
          <p:nvPr/>
        </p:nvSpPr>
        <p:spPr>
          <a:xfrm>
            <a:off x="990600" y="978475"/>
            <a:ext cx="7162800" cy="3839400"/>
          </a:xfrm>
          <a:prstGeom prst="rect">
            <a:avLst/>
          </a:prstGeom>
          <a:noFill/>
          <a:ln>
            <a:noFill/>
          </a:ln>
        </p:spPr>
        <p:txBody>
          <a:bodyPr anchorCtr="0" anchor="t" bIns="91425" lIns="91425" spcFirstLastPara="1" rIns="91425" wrap="square" tIns="91425">
            <a:spAutoFit/>
          </a:bodyPr>
          <a:lstStyle/>
          <a:p>
            <a:pPr indent="-317500" lvl="0" marL="457200" rtl="0" algn="l">
              <a:lnSpc>
                <a:spcPct val="114000"/>
              </a:lnSpc>
              <a:spcBef>
                <a:spcPts val="0"/>
              </a:spcBef>
              <a:spcAft>
                <a:spcPts val="0"/>
              </a:spcAft>
              <a:buClr>
                <a:schemeClr val="dk1"/>
              </a:buClr>
              <a:buSzPts val="1400"/>
              <a:buFont typeface="Lato"/>
              <a:buChar char="➔"/>
            </a:pPr>
            <a:r>
              <a:rPr b="1" lang="en-GB">
                <a:solidFill>
                  <a:schemeClr val="dk1"/>
                </a:solidFill>
                <a:latin typeface="Lato"/>
                <a:ea typeface="Lato"/>
                <a:cs typeface="Lato"/>
                <a:sym typeface="Lato"/>
              </a:rPr>
              <a:t>If there is an investment, should it be used to hire more IT agents, improve training programs, or upgrade ticket management software?</a:t>
            </a:r>
            <a:endParaRPr b="1">
              <a:solidFill>
                <a:schemeClr val="dk1"/>
              </a:solidFill>
              <a:latin typeface="Lato"/>
              <a:ea typeface="Lato"/>
              <a:cs typeface="Lato"/>
              <a:sym typeface="Lato"/>
            </a:endParaRPr>
          </a:p>
          <a:p>
            <a:pPr indent="0" lvl="0" marL="457200" rtl="0" algn="l">
              <a:lnSpc>
                <a:spcPct val="114000"/>
              </a:lnSpc>
              <a:spcBef>
                <a:spcPts val="0"/>
              </a:spcBef>
              <a:spcAft>
                <a:spcPts val="0"/>
              </a:spcAft>
              <a:buNone/>
            </a:pPr>
            <a:r>
              <a:rPr lang="en-GB">
                <a:solidFill>
                  <a:schemeClr val="dk1"/>
                </a:solidFill>
                <a:latin typeface="Lato"/>
                <a:ea typeface="Lato"/>
                <a:cs typeface="Lato"/>
                <a:sym typeface="Lato"/>
              </a:rPr>
              <a:t>Analysis: Perform a cost-benefit analysis using ticket resolution and satisfaction metrics.</a:t>
            </a:r>
            <a:endParaRPr>
              <a:solidFill>
                <a:schemeClr val="dk1"/>
              </a:solidFill>
              <a:latin typeface="Lato"/>
              <a:ea typeface="Lato"/>
              <a:cs typeface="Lato"/>
              <a:sym typeface="Lato"/>
            </a:endParaRPr>
          </a:p>
          <a:p>
            <a:pPr indent="0" lvl="0" marL="457200" marR="0" rtl="0" algn="l">
              <a:lnSpc>
                <a:spcPct val="114000"/>
              </a:lnSpc>
              <a:spcBef>
                <a:spcPts val="0"/>
              </a:spcBef>
              <a:spcAft>
                <a:spcPts val="0"/>
              </a:spcAft>
              <a:buClr>
                <a:srgbClr val="000000"/>
              </a:buClr>
              <a:buSzPts val="1400"/>
              <a:buFont typeface="Arial"/>
              <a:buNone/>
            </a:pPr>
            <a:r>
              <a:t/>
            </a:r>
            <a:endParaRPr b="0" i="0" sz="1400" u="none" cap="none" strike="noStrike">
              <a:solidFill>
                <a:schemeClr val="dk1"/>
              </a:solidFill>
              <a:latin typeface="Lato"/>
              <a:ea typeface="Lato"/>
              <a:cs typeface="Lato"/>
              <a:sym typeface="Lato"/>
            </a:endParaRPr>
          </a:p>
          <a:p>
            <a:pPr indent="-317500" lvl="0" marL="457200" rtl="0" algn="l">
              <a:lnSpc>
                <a:spcPct val="114000"/>
              </a:lnSpc>
              <a:spcBef>
                <a:spcPts val="0"/>
              </a:spcBef>
              <a:spcAft>
                <a:spcPts val="0"/>
              </a:spcAft>
              <a:buClr>
                <a:schemeClr val="dk1"/>
              </a:buClr>
              <a:buSzPts val="1400"/>
              <a:buFont typeface="Lato"/>
              <a:buChar char="➔"/>
            </a:pPr>
            <a:r>
              <a:rPr b="1" lang="en-GB">
                <a:solidFill>
                  <a:schemeClr val="dk1"/>
                </a:solidFill>
                <a:latin typeface="Lato"/>
                <a:ea typeface="Lato"/>
                <a:cs typeface="Lato"/>
                <a:sym typeface="Lato"/>
              </a:rPr>
              <a:t>Which agents need additional training based on their performance metrics?</a:t>
            </a:r>
            <a:endParaRPr b="1">
              <a:solidFill>
                <a:schemeClr val="dk1"/>
              </a:solidFill>
              <a:latin typeface="Lato"/>
              <a:ea typeface="Lato"/>
              <a:cs typeface="Lato"/>
              <a:sym typeface="Lato"/>
            </a:endParaRPr>
          </a:p>
          <a:p>
            <a:pPr indent="0" lvl="0" marL="457200" rtl="0" algn="l">
              <a:lnSpc>
                <a:spcPct val="114000"/>
              </a:lnSpc>
              <a:spcBef>
                <a:spcPts val="0"/>
              </a:spcBef>
              <a:spcAft>
                <a:spcPts val="0"/>
              </a:spcAft>
              <a:buClr>
                <a:schemeClr val="dk1"/>
              </a:buClr>
              <a:buSzPts val="1100"/>
              <a:buFont typeface="Arial"/>
              <a:buNone/>
            </a:pPr>
            <a:r>
              <a:rPr lang="en-GB">
                <a:solidFill>
                  <a:schemeClr val="dk1"/>
                </a:solidFill>
                <a:latin typeface="Lato"/>
                <a:ea typeface="Lato"/>
                <a:cs typeface="Lato"/>
                <a:sym typeface="Lato"/>
              </a:rPr>
              <a:t>Analysis: Identify agents with the lowest satisfaction ratings and longest resolution times.</a:t>
            </a:r>
            <a:endParaRPr>
              <a:solidFill>
                <a:schemeClr val="dk1"/>
              </a:solidFill>
              <a:latin typeface="Lato"/>
              <a:ea typeface="Lato"/>
              <a:cs typeface="Lato"/>
              <a:sym typeface="Lato"/>
            </a:endParaRPr>
          </a:p>
          <a:p>
            <a:pPr indent="0" lvl="0" marL="457200" marR="0" rtl="0" algn="l">
              <a:lnSpc>
                <a:spcPct val="114000"/>
              </a:lnSpc>
              <a:spcBef>
                <a:spcPts val="0"/>
              </a:spcBef>
              <a:spcAft>
                <a:spcPts val="0"/>
              </a:spcAft>
              <a:buClr>
                <a:srgbClr val="000000"/>
              </a:buClr>
              <a:buSzPts val="1400"/>
              <a:buFont typeface="Arial"/>
              <a:buNone/>
            </a:pPr>
            <a:r>
              <a:t/>
            </a:r>
            <a:endParaRPr b="1" i="0" sz="1400" u="none" cap="none" strike="noStrike">
              <a:solidFill>
                <a:schemeClr val="dk1"/>
              </a:solidFill>
              <a:latin typeface="Lato"/>
              <a:ea typeface="Lato"/>
              <a:cs typeface="Lato"/>
              <a:sym typeface="Lato"/>
            </a:endParaRPr>
          </a:p>
          <a:p>
            <a:pPr indent="-317500" lvl="0" marL="457200" rtl="0" algn="l">
              <a:lnSpc>
                <a:spcPct val="114000"/>
              </a:lnSpc>
              <a:spcBef>
                <a:spcPts val="0"/>
              </a:spcBef>
              <a:spcAft>
                <a:spcPts val="0"/>
              </a:spcAft>
              <a:buClr>
                <a:schemeClr val="dk1"/>
              </a:buClr>
              <a:buSzPts val="1400"/>
              <a:buFont typeface="Lato"/>
              <a:buChar char="➔"/>
            </a:pPr>
            <a:r>
              <a:rPr b="1" lang="en-GB">
                <a:solidFill>
                  <a:schemeClr val="dk1"/>
                </a:solidFill>
                <a:latin typeface="Lato"/>
                <a:ea typeface="Lato"/>
                <a:cs typeface="Lato"/>
                <a:sym typeface="Lato"/>
              </a:rPr>
              <a:t>Do certain categories of requests have longer resolution times?</a:t>
            </a:r>
            <a:endParaRPr b="1">
              <a:solidFill>
                <a:schemeClr val="dk1"/>
              </a:solidFill>
              <a:latin typeface="Lato"/>
              <a:ea typeface="Lato"/>
              <a:cs typeface="Lato"/>
              <a:sym typeface="Lato"/>
            </a:endParaRPr>
          </a:p>
          <a:p>
            <a:pPr indent="0" lvl="0" marL="457200" rtl="0" algn="l">
              <a:lnSpc>
                <a:spcPct val="114000"/>
              </a:lnSpc>
              <a:spcBef>
                <a:spcPts val="0"/>
              </a:spcBef>
              <a:spcAft>
                <a:spcPts val="0"/>
              </a:spcAft>
              <a:buNone/>
            </a:pPr>
            <a:r>
              <a:rPr lang="en-GB">
                <a:solidFill>
                  <a:schemeClr val="dk1"/>
                </a:solidFill>
                <a:latin typeface="Lato"/>
                <a:ea typeface="Lato"/>
                <a:cs typeface="Lato"/>
                <a:sym typeface="Lato"/>
              </a:rPr>
              <a:t>Analysis: Analyze the resolution times by request category</a:t>
            </a:r>
            <a:r>
              <a:rPr lang="en-GB">
                <a:solidFill>
                  <a:schemeClr val="dk1"/>
                </a:solidFill>
                <a:latin typeface="Lato"/>
                <a:ea typeface="Lato"/>
                <a:cs typeface="Lato"/>
                <a:sym typeface="Lato"/>
              </a:rPr>
              <a:t>.</a:t>
            </a:r>
            <a:endParaRPr>
              <a:solidFill>
                <a:schemeClr val="dk1"/>
              </a:solidFill>
              <a:latin typeface="Lato"/>
              <a:ea typeface="Lato"/>
              <a:cs typeface="Lato"/>
              <a:sym typeface="Lato"/>
            </a:endParaRPr>
          </a:p>
          <a:p>
            <a:pPr indent="0" lvl="0" marL="457200" rtl="0" algn="l">
              <a:lnSpc>
                <a:spcPct val="114000"/>
              </a:lnSpc>
              <a:spcBef>
                <a:spcPts val="0"/>
              </a:spcBef>
              <a:spcAft>
                <a:spcPts val="0"/>
              </a:spcAft>
              <a:buNone/>
            </a:pPr>
            <a:r>
              <a:t/>
            </a:r>
            <a:endParaRPr>
              <a:solidFill>
                <a:schemeClr val="dk1"/>
              </a:solidFill>
              <a:latin typeface="Lato"/>
              <a:ea typeface="Lato"/>
              <a:cs typeface="Lato"/>
              <a:sym typeface="Lato"/>
            </a:endParaRPr>
          </a:p>
          <a:p>
            <a:pPr indent="-317500" lvl="0" marL="457200" rtl="0" algn="l">
              <a:lnSpc>
                <a:spcPct val="114000"/>
              </a:lnSpc>
              <a:spcBef>
                <a:spcPts val="0"/>
              </a:spcBef>
              <a:spcAft>
                <a:spcPts val="0"/>
              </a:spcAft>
              <a:buClr>
                <a:schemeClr val="dk1"/>
              </a:buClr>
              <a:buSzPts val="1400"/>
              <a:buFont typeface="Lato"/>
              <a:buChar char="➔"/>
            </a:pPr>
            <a:r>
              <a:rPr b="1" lang="en-GB">
                <a:solidFill>
                  <a:schemeClr val="dk1"/>
                </a:solidFill>
                <a:latin typeface="Lato"/>
                <a:ea typeface="Lato"/>
                <a:cs typeface="Lato"/>
                <a:sym typeface="Lato"/>
              </a:rPr>
              <a:t>How effective are the current software tools in managing IT tickets?</a:t>
            </a:r>
            <a:endParaRPr b="1">
              <a:solidFill>
                <a:schemeClr val="dk1"/>
              </a:solidFill>
              <a:latin typeface="Lato"/>
              <a:ea typeface="Lato"/>
              <a:cs typeface="Lato"/>
              <a:sym typeface="Lato"/>
            </a:endParaRPr>
          </a:p>
          <a:p>
            <a:pPr indent="0" lvl="0" marL="457200" rtl="0" algn="l">
              <a:lnSpc>
                <a:spcPct val="114000"/>
              </a:lnSpc>
              <a:spcBef>
                <a:spcPts val="0"/>
              </a:spcBef>
              <a:spcAft>
                <a:spcPts val="0"/>
              </a:spcAft>
              <a:buNone/>
            </a:pPr>
            <a:r>
              <a:rPr lang="en-GB">
                <a:solidFill>
                  <a:schemeClr val="dk1"/>
                </a:solidFill>
                <a:latin typeface="Lato"/>
                <a:ea typeface="Lato"/>
                <a:cs typeface="Lato"/>
                <a:sym typeface="Lato"/>
              </a:rPr>
              <a:t>Analysis: Evaluate performance metrics before and after the implementation of new tools.</a:t>
            </a:r>
            <a:endParaRPr b="1">
              <a:solidFill>
                <a:schemeClr val="dk1"/>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2"/>
          <p:cNvSpPr txBox="1"/>
          <p:nvPr/>
        </p:nvSpPr>
        <p:spPr>
          <a:xfrm>
            <a:off x="303425" y="5287250"/>
            <a:ext cx="8233800" cy="187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Arial"/>
              <a:ea typeface="Arial"/>
              <a:cs typeface="Arial"/>
              <a:sym typeface="Arial"/>
            </a:endParaRPr>
          </a:p>
        </p:txBody>
      </p:sp>
      <p:sp>
        <p:nvSpPr>
          <p:cNvPr id="120" name="Google Shape;120;p12"/>
          <p:cNvSpPr txBox="1"/>
          <p:nvPr/>
        </p:nvSpPr>
        <p:spPr>
          <a:xfrm>
            <a:off x="799500" y="976000"/>
            <a:ext cx="7545000" cy="4085100"/>
          </a:xfrm>
          <a:prstGeom prst="rect">
            <a:avLst/>
          </a:prstGeom>
          <a:noFill/>
          <a:ln>
            <a:noFill/>
          </a:ln>
        </p:spPr>
        <p:txBody>
          <a:bodyPr anchorCtr="0" anchor="t" bIns="91425" lIns="91425" spcFirstLastPara="1" rIns="91425" wrap="square" tIns="91425">
            <a:spAutoFit/>
          </a:bodyPr>
          <a:lstStyle/>
          <a:p>
            <a:pPr indent="-317500" lvl="0" marL="457200" rtl="0" algn="l">
              <a:lnSpc>
                <a:spcPct val="114000"/>
              </a:lnSpc>
              <a:spcBef>
                <a:spcPts val="0"/>
              </a:spcBef>
              <a:spcAft>
                <a:spcPts val="0"/>
              </a:spcAft>
              <a:buClr>
                <a:schemeClr val="dk1"/>
              </a:buClr>
              <a:buSzPts val="1400"/>
              <a:buFont typeface="Lato"/>
              <a:buChar char="➔"/>
            </a:pPr>
            <a:r>
              <a:rPr b="1" lang="en-GB">
                <a:solidFill>
                  <a:schemeClr val="dk1"/>
                </a:solidFill>
                <a:latin typeface="Lato"/>
                <a:ea typeface="Lato"/>
                <a:cs typeface="Lato"/>
                <a:sym typeface="Lato"/>
              </a:rPr>
              <a:t>How has the performance of the IT support team changed over time (e.g., monthly or quarterly)?</a:t>
            </a:r>
            <a:endParaRPr b="1">
              <a:solidFill>
                <a:schemeClr val="dk1"/>
              </a:solidFill>
              <a:latin typeface="Lato"/>
              <a:ea typeface="Lato"/>
              <a:cs typeface="Lato"/>
              <a:sym typeface="Lato"/>
            </a:endParaRPr>
          </a:p>
          <a:p>
            <a:pPr indent="0" lvl="0" marL="457200" rtl="0" algn="l">
              <a:lnSpc>
                <a:spcPct val="114000"/>
              </a:lnSpc>
              <a:spcBef>
                <a:spcPts val="0"/>
              </a:spcBef>
              <a:spcAft>
                <a:spcPts val="0"/>
              </a:spcAft>
              <a:buNone/>
            </a:pPr>
            <a:r>
              <a:rPr lang="en-GB">
                <a:solidFill>
                  <a:schemeClr val="dk1"/>
                </a:solidFill>
                <a:latin typeface="Lato"/>
                <a:ea typeface="Lato"/>
                <a:cs typeface="Lato"/>
                <a:sym typeface="Lato"/>
              </a:rPr>
              <a:t>Analysis: Trend analysis using time series charts.</a:t>
            </a:r>
            <a:endParaRPr>
              <a:solidFill>
                <a:schemeClr val="dk1"/>
              </a:solidFill>
              <a:latin typeface="Lato"/>
              <a:ea typeface="Lato"/>
              <a:cs typeface="Lato"/>
              <a:sym typeface="Lato"/>
            </a:endParaRPr>
          </a:p>
          <a:p>
            <a:pPr indent="0" lvl="0" marL="0" rtl="0" algn="l">
              <a:lnSpc>
                <a:spcPct val="114000"/>
              </a:lnSpc>
              <a:spcBef>
                <a:spcPts val="0"/>
              </a:spcBef>
              <a:spcAft>
                <a:spcPts val="0"/>
              </a:spcAft>
              <a:buNone/>
            </a:pPr>
            <a:r>
              <a:t/>
            </a:r>
            <a:endParaRPr b="1">
              <a:solidFill>
                <a:schemeClr val="dk1"/>
              </a:solidFill>
              <a:latin typeface="Lato"/>
              <a:ea typeface="Lato"/>
              <a:cs typeface="Lato"/>
              <a:sym typeface="Lato"/>
            </a:endParaRPr>
          </a:p>
          <a:p>
            <a:pPr indent="-317500" lvl="0" marL="457200" rtl="0" algn="l">
              <a:lnSpc>
                <a:spcPct val="114000"/>
              </a:lnSpc>
              <a:spcBef>
                <a:spcPts val="0"/>
              </a:spcBef>
              <a:spcAft>
                <a:spcPts val="0"/>
              </a:spcAft>
              <a:buClr>
                <a:schemeClr val="dk1"/>
              </a:buClr>
              <a:buSzPts val="1400"/>
              <a:buFont typeface="Lato"/>
              <a:buChar char="➔"/>
            </a:pPr>
            <a:r>
              <a:rPr b="1" lang="en-GB">
                <a:solidFill>
                  <a:schemeClr val="dk1"/>
                </a:solidFill>
                <a:latin typeface="Lato"/>
                <a:ea typeface="Lato"/>
                <a:cs typeface="Lato"/>
                <a:sym typeface="Lato"/>
              </a:rPr>
              <a:t>If we invest more on tech (Hardware, software, etc), do you think it will improve the ticket resolution times and employee satisfaction?</a:t>
            </a:r>
            <a:endParaRPr b="1">
              <a:solidFill>
                <a:schemeClr val="dk1"/>
              </a:solidFill>
              <a:latin typeface="Lato"/>
              <a:ea typeface="Lato"/>
              <a:cs typeface="Lato"/>
              <a:sym typeface="Lato"/>
            </a:endParaRPr>
          </a:p>
          <a:p>
            <a:pPr indent="0" lvl="0" marL="457200" rtl="0" algn="l">
              <a:lnSpc>
                <a:spcPct val="114000"/>
              </a:lnSpc>
              <a:spcBef>
                <a:spcPts val="0"/>
              </a:spcBef>
              <a:spcAft>
                <a:spcPts val="0"/>
              </a:spcAft>
              <a:buClr>
                <a:schemeClr val="dk1"/>
              </a:buClr>
              <a:buSzPts val="1100"/>
              <a:buFont typeface="Arial"/>
              <a:buNone/>
            </a:pPr>
            <a:r>
              <a:rPr lang="en-GB">
                <a:solidFill>
                  <a:schemeClr val="dk1"/>
                </a:solidFill>
                <a:latin typeface="Lato"/>
                <a:ea typeface="Lato"/>
                <a:cs typeface="Lato"/>
                <a:sym typeface="Lato"/>
              </a:rPr>
              <a:t>Analysis: Use historical data to project potential improvements.</a:t>
            </a:r>
            <a:endParaRPr b="1">
              <a:solidFill>
                <a:schemeClr val="dk1"/>
              </a:solidFill>
              <a:latin typeface="Lato"/>
              <a:ea typeface="Lato"/>
              <a:cs typeface="Lato"/>
              <a:sym typeface="Lato"/>
            </a:endParaRPr>
          </a:p>
          <a:p>
            <a:pPr indent="0" lvl="0" marL="457200" marR="0" rtl="0" algn="l">
              <a:lnSpc>
                <a:spcPct val="114000"/>
              </a:lnSpc>
              <a:spcBef>
                <a:spcPts val="0"/>
              </a:spcBef>
              <a:spcAft>
                <a:spcPts val="0"/>
              </a:spcAft>
              <a:buClr>
                <a:srgbClr val="000000"/>
              </a:buClr>
              <a:buSzPts val="1400"/>
              <a:buFont typeface="Arial"/>
              <a:buNone/>
            </a:pPr>
            <a:r>
              <a:t/>
            </a:r>
            <a:endParaRPr b="1" i="0" sz="1400" u="none" cap="none" strike="noStrike">
              <a:solidFill>
                <a:schemeClr val="dk1"/>
              </a:solidFill>
              <a:latin typeface="Lato"/>
              <a:ea typeface="Lato"/>
              <a:cs typeface="Lato"/>
              <a:sym typeface="Lato"/>
            </a:endParaRPr>
          </a:p>
          <a:p>
            <a:pPr indent="-317500" lvl="0" marL="457200" rtl="0" algn="l">
              <a:lnSpc>
                <a:spcPct val="114000"/>
              </a:lnSpc>
              <a:spcBef>
                <a:spcPts val="0"/>
              </a:spcBef>
              <a:spcAft>
                <a:spcPts val="0"/>
              </a:spcAft>
              <a:buClr>
                <a:schemeClr val="dk1"/>
              </a:buClr>
              <a:buSzPts val="1400"/>
              <a:buFont typeface="Lato"/>
              <a:buChar char="➔"/>
            </a:pPr>
            <a:r>
              <a:rPr b="1" lang="en-GB">
                <a:solidFill>
                  <a:schemeClr val="dk1"/>
                </a:solidFill>
                <a:latin typeface="Lato"/>
                <a:ea typeface="Lato"/>
                <a:cs typeface="Lato"/>
                <a:sym typeface="Lato"/>
              </a:rPr>
              <a:t>What are the key performance metrics for IT agents, and how can they be improved, do we need to fire any agents?</a:t>
            </a:r>
            <a:endParaRPr b="1">
              <a:solidFill>
                <a:schemeClr val="dk1"/>
              </a:solidFill>
              <a:latin typeface="Lato"/>
              <a:ea typeface="Lato"/>
              <a:cs typeface="Lato"/>
              <a:sym typeface="Lato"/>
            </a:endParaRPr>
          </a:p>
          <a:p>
            <a:pPr indent="0" lvl="0" marL="457200" rtl="0" algn="l">
              <a:lnSpc>
                <a:spcPct val="114000"/>
              </a:lnSpc>
              <a:spcBef>
                <a:spcPts val="0"/>
              </a:spcBef>
              <a:spcAft>
                <a:spcPts val="0"/>
              </a:spcAft>
              <a:buClr>
                <a:schemeClr val="dk1"/>
              </a:buClr>
              <a:buSzPts val="1100"/>
              <a:buFont typeface="Arial"/>
              <a:buNone/>
            </a:pPr>
            <a:r>
              <a:rPr lang="en-GB">
                <a:solidFill>
                  <a:schemeClr val="dk1"/>
                </a:solidFill>
                <a:latin typeface="Lato"/>
                <a:ea typeface="Lato"/>
                <a:cs typeface="Lato"/>
                <a:sym typeface="Lato"/>
              </a:rPr>
              <a:t>Analysis: Define and analyze metrics such as average handling time, satisfaction scores, and number of tickets resolved.</a:t>
            </a:r>
            <a:endParaRPr>
              <a:solidFill>
                <a:schemeClr val="dk1"/>
              </a:solidFill>
              <a:latin typeface="Lato"/>
              <a:ea typeface="Lato"/>
              <a:cs typeface="Lato"/>
              <a:sym typeface="Lato"/>
            </a:endParaRPr>
          </a:p>
          <a:p>
            <a:pPr indent="0" lvl="0" marL="0" marR="0" rtl="0" algn="l">
              <a:lnSpc>
                <a:spcPct val="114000"/>
              </a:lnSpc>
              <a:spcBef>
                <a:spcPts val="0"/>
              </a:spcBef>
              <a:spcAft>
                <a:spcPts val="0"/>
              </a:spcAft>
              <a:buClr>
                <a:srgbClr val="000000"/>
              </a:buClr>
              <a:buSzPts val="1400"/>
              <a:buFont typeface="Arial"/>
              <a:buNone/>
            </a:pPr>
            <a:r>
              <a:t/>
            </a:r>
            <a:endParaRPr b="1" i="0" sz="1400" u="none" cap="none" strike="noStrike">
              <a:solidFill>
                <a:schemeClr val="dk1"/>
              </a:solidFill>
              <a:latin typeface="Lato"/>
              <a:ea typeface="Lato"/>
              <a:cs typeface="Lato"/>
              <a:sym typeface="Lato"/>
            </a:endParaRPr>
          </a:p>
          <a:p>
            <a:pPr indent="-317500" lvl="0" marL="457200" rtl="0" algn="l">
              <a:lnSpc>
                <a:spcPct val="114000"/>
              </a:lnSpc>
              <a:spcBef>
                <a:spcPts val="0"/>
              </a:spcBef>
              <a:spcAft>
                <a:spcPts val="0"/>
              </a:spcAft>
              <a:buClr>
                <a:schemeClr val="dk1"/>
              </a:buClr>
              <a:buSzPts val="1400"/>
              <a:buFont typeface="Lato"/>
              <a:buChar char="➔"/>
            </a:pPr>
            <a:r>
              <a:rPr b="1" lang="en-GB">
                <a:solidFill>
                  <a:schemeClr val="dk1"/>
                </a:solidFill>
                <a:latin typeface="Lato"/>
                <a:ea typeface="Lato"/>
                <a:cs typeface="Lato"/>
                <a:sym typeface="Lato"/>
              </a:rPr>
              <a:t>How do employee demographics (e.g., department, seniority) impact satisfaction and ticket outcomes?</a:t>
            </a:r>
            <a:endParaRPr b="1">
              <a:solidFill>
                <a:schemeClr val="dk1"/>
              </a:solidFill>
              <a:latin typeface="Lato"/>
              <a:ea typeface="Lato"/>
              <a:cs typeface="Lato"/>
              <a:sym typeface="Lato"/>
            </a:endParaRPr>
          </a:p>
          <a:p>
            <a:pPr indent="0" lvl="0" marL="457200" rtl="0" algn="l">
              <a:lnSpc>
                <a:spcPct val="114000"/>
              </a:lnSpc>
              <a:spcBef>
                <a:spcPts val="0"/>
              </a:spcBef>
              <a:spcAft>
                <a:spcPts val="0"/>
              </a:spcAft>
              <a:buNone/>
            </a:pPr>
            <a:r>
              <a:rPr lang="en-GB">
                <a:solidFill>
                  <a:schemeClr val="dk1"/>
                </a:solidFill>
                <a:latin typeface="Lato"/>
                <a:ea typeface="Lato"/>
                <a:cs typeface="Lato"/>
                <a:sym typeface="Lato"/>
              </a:rPr>
              <a:t>Analysis: Segment analysis using filters and pivot tables.</a:t>
            </a:r>
            <a:endParaRPr>
              <a:solidFill>
                <a:schemeClr val="dk1"/>
              </a:solidFill>
              <a:latin typeface="Lato"/>
              <a:ea typeface="Lato"/>
              <a:cs typeface="Lato"/>
              <a:sym typeface="Lato"/>
            </a:endParaRPr>
          </a:p>
        </p:txBody>
      </p:sp>
      <p:sp>
        <p:nvSpPr>
          <p:cNvPr id="121" name="Google Shape;121;p12"/>
          <p:cNvSpPr txBox="1"/>
          <p:nvPr/>
        </p:nvSpPr>
        <p:spPr>
          <a:xfrm>
            <a:off x="634400" y="429050"/>
            <a:ext cx="60696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4000"/>
              </a:lnSpc>
              <a:spcBef>
                <a:spcPts val="0"/>
              </a:spcBef>
              <a:spcAft>
                <a:spcPts val="0"/>
              </a:spcAft>
              <a:buClr>
                <a:srgbClr val="000000"/>
              </a:buClr>
              <a:buSzPts val="2200"/>
              <a:buFont typeface="Arial"/>
              <a:buNone/>
            </a:pPr>
            <a:r>
              <a:rPr b="1" i="0" lang="en-GB" sz="1800" u="none" cap="none" strike="noStrike">
                <a:solidFill>
                  <a:schemeClr val="dk1"/>
                </a:solidFill>
                <a:latin typeface="Lato"/>
                <a:ea typeface="Lato"/>
                <a:cs typeface="Lato"/>
                <a:sym typeface="Lato"/>
              </a:rPr>
              <a:t>Data Analysis and Visualizations</a:t>
            </a:r>
            <a:r>
              <a:rPr b="1" i="0" lang="en-GB" sz="2000" u="none" cap="none" strike="noStrike">
                <a:solidFill>
                  <a:schemeClr val="dk1"/>
                </a:solidFill>
                <a:latin typeface="Lato"/>
                <a:ea typeface="Lato"/>
                <a:cs typeface="Lato"/>
                <a:sym typeface="Lato"/>
              </a:rPr>
              <a:t> </a:t>
            </a:r>
            <a:r>
              <a:rPr b="0" i="0" lang="en-GB" sz="1400" u="none" cap="none" strike="noStrike">
                <a:solidFill>
                  <a:schemeClr val="dk1"/>
                </a:solidFill>
                <a:latin typeface="Lato"/>
                <a:ea typeface="Lato"/>
                <a:cs typeface="Lato"/>
                <a:sym typeface="Lato"/>
              </a:rPr>
              <a:t>(Subjective Question)</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3"/>
          <p:cNvSpPr txBox="1"/>
          <p:nvPr/>
        </p:nvSpPr>
        <p:spPr>
          <a:xfrm>
            <a:off x="780600" y="2851125"/>
            <a:ext cx="7582800" cy="1634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GB" sz="1500" u="none" cap="none" strike="noStrike">
                <a:solidFill>
                  <a:schemeClr val="dk1"/>
                </a:solidFill>
                <a:latin typeface="Arial"/>
                <a:ea typeface="Arial"/>
                <a:cs typeface="Arial"/>
                <a:sym typeface="Arial"/>
              </a:rPr>
              <a:t>Ensure that you put the slicers for choosing the </a:t>
            </a:r>
            <a:r>
              <a:rPr b="1" lang="en-GB" sz="1500">
                <a:solidFill>
                  <a:schemeClr val="dk1"/>
                </a:solidFill>
              </a:rPr>
              <a:t>priority wise</a:t>
            </a:r>
            <a:r>
              <a:rPr b="1" i="0" lang="en-GB" sz="1500" u="none" cap="none" strike="noStrike">
                <a:solidFill>
                  <a:schemeClr val="dk1"/>
                </a:solidFill>
                <a:latin typeface="Arial"/>
                <a:ea typeface="Arial"/>
                <a:cs typeface="Arial"/>
                <a:sym typeface="Arial"/>
              </a:rPr>
              <a:t> and year in order to observe the dashboard since the management will be having a long discussion which can go for weeks.</a:t>
            </a:r>
            <a:endParaRPr b="1" i="0" sz="1500" u="none" cap="none" strike="noStrike">
              <a:solidFill>
                <a:schemeClr val="dk1"/>
              </a:solidFill>
              <a:latin typeface="Arial"/>
              <a:ea typeface="Arial"/>
              <a:cs typeface="Arial"/>
              <a:sym typeface="Arial"/>
            </a:endParaRPr>
          </a:p>
          <a:p>
            <a:pPr indent="0" lvl="0" marL="0" marR="0" rtl="0" algn="l">
              <a:lnSpc>
                <a:spcPct val="114000"/>
              </a:lnSpc>
              <a:spcBef>
                <a:spcPts val="0"/>
              </a:spcBef>
              <a:spcAft>
                <a:spcPts val="0"/>
              </a:spcAft>
              <a:buClr>
                <a:srgbClr val="000000"/>
              </a:buClr>
              <a:buSzPts val="1500"/>
              <a:buFont typeface="Arial"/>
              <a:buNone/>
            </a:pPr>
            <a:r>
              <a:t/>
            </a:r>
            <a:endParaRPr b="1" i="0" sz="1500" u="none" cap="none" strike="noStrike">
              <a:solidFill>
                <a:schemeClr val="dk1"/>
              </a:solidFill>
              <a:latin typeface="Lato"/>
              <a:ea typeface="Lato"/>
              <a:cs typeface="Lato"/>
              <a:sym typeface="Lato"/>
            </a:endParaRPr>
          </a:p>
          <a:p>
            <a:pPr indent="0" lvl="0" marL="0" marR="0" rtl="0" algn="l">
              <a:lnSpc>
                <a:spcPct val="114000"/>
              </a:lnSpc>
              <a:spcBef>
                <a:spcPts val="0"/>
              </a:spcBef>
              <a:spcAft>
                <a:spcPts val="0"/>
              </a:spcAft>
              <a:buClr>
                <a:srgbClr val="000000"/>
              </a:buClr>
              <a:buSzPts val="1500"/>
              <a:buFont typeface="Arial"/>
              <a:buNone/>
            </a:pPr>
            <a:r>
              <a:rPr b="1" i="0" lang="en-GB" sz="1500" u="none" cap="none" strike="noStrike">
                <a:solidFill>
                  <a:schemeClr val="dk1"/>
                </a:solidFill>
                <a:latin typeface="Lato"/>
                <a:ea typeface="Lato"/>
                <a:cs typeface="Lato"/>
                <a:sym typeface="Lato"/>
              </a:rPr>
              <a:t>Note</a:t>
            </a:r>
            <a:r>
              <a:rPr b="0" i="0" lang="en-GB" sz="1500" u="none" cap="none" strike="noStrike">
                <a:solidFill>
                  <a:schemeClr val="dk1"/>
                </a:solidFill>
                <a:latin typeface="Lato"/>
                <a:ea typeface="Lato"/>
                <a:cs typeface="Lato"/>
                <a:sym typeface="Lato"/>
              </a:rPr>
              <a:t>: The dashboard would be more interactive and user-friendly, allowing management to explore data in detail and make informed decisions.</a:t>
            </a:r>
            <a:endParaRPr b="1" i="0" sz="1500" u="none" cap="none" strike="noStrike">
              <a:solidFill>
                <a:schemeClr val="dk1"/>
              </a:solidFill>
              <a:latin typeface="Arial"/>
              <a:ea typeface="Arial"/>
              <a:cs typeface="Arial"/>
              <a:sym typeface="Arial"/>
            </a:endParaRPr>
          </a:p>
        </p:txBody>
      </p:sp>
      <p:sp>
        <p:nvSpPr>
          <p:cNvPr id="127" name="Google Shape;127;p13"/>
          <p:cNvSpPr txBox="1"/>
          <p:nvPr/>
        </p:nvSpPr>
        <p:spPr>
          <a:xfrm>
            <a:off x="780600" y="704650"/>
            <a:ext cx="7582800" cy="1747500"/>
          </a:xfrm>
          <a:prstGeom prst="rect">
            <a:avLst/>
          </a:prstGeom>
          <a:noFill/>
          <a:ln>
            <a:noFill/>
          </a:ln>
        </p:spPr>
        <p:txBody>
          <a:bodyPr anchorCtr="0" anchor="t" bIns="91425" lIns="91425" spcFirstLastPara="1" rIns="91425" wrap="square" tIns="91425">
            <a:noAutofit/>
          </a:bodyPr>
          <a:lstStyle/>
          <a:p>
            <a:pPr indent="-317500" lvl="0" marL="457200" rtl="0" algn="l">
              <a:lnSpc>
                <a:spcPct val="114000"/>
              </a:lnSpc>
              <a:spcBef>
                <a:spcPts val="0"/>
              </a:spcBef>
              <a:spcAft>
                <a:spcPts val="0"/>
              </a:spcAft>
              <a:buClr>
                <a:schemeClr val="dk1"/>
              </a:buClr>
              <a:buSzPts val="1400"/>
              <a:buFont typeface="Lato"/>
              <a:buChar char="➔"/>
            </a:pPr>
            <a:r>
              <a:rPr b="1" lang="en-GB">
                <a:solidFill>
                  <a:schemeClr val="dk1"/>
                </a:solidFill>
                <a:latin typeface="Lato"/>
                <a:ea typeface="Lato"/>
                <a:cs typeface="Lato"/>
                <a:sym typeface="Lato"/>
              </a:rPr>
              <a:t>Identify the trends for IT support operations based on ticket volumes and satisfaction, and mention the peak and stable times?</a:t>
            </a:r>
            <a:endParaRPr b="1">
              <a:solidFill>
                <a:schemeClr val="dk1"/>
              </a:solidFill>
              <a:latin typeface="Lato"/>
              <a:ea typeface="Lato"/>
              <a:cs typeface="Lato"/>
              <a:sym typeface="Lato"/>
            </a:endParaRPr>
          </a:p>
          <a:p>
            <a:pPr indent="0" lvl="0" marL="457200" rtl="0" algn="l">
              <a:lnSpc>
                <a:spcPct val="114000"/>
              </a:lnSpc>
              <a:spcBef>
                <a:spcPts val="0"/>
              </a:spcBef>
              <a:spcAft>
                <a:spcPts val="0"/>
              </a:spcAft>
              <a:buClr>
                <a:schemeClr val="dk1"/>
              </a:buClr>
              <a:buSzPts val="1100"/>
              <a:buFont typeface="Arial"/>
              <a:buNone/>
            </a:pPr>
            <a:r>
              <a:rPr lang="en-GB">
                <a:solidFill>
                  <a:schemeClr val="dk1"/>
                </a:solidFill>
                <a:latin typeface="Lato"/>
                <a:ea typeface="Lato"/>
                <a:cs typeface="Lato"/>
                <a:sym typeface="Lato"/>
              </a:rPr>
              <a:t>Analysis: Use pivot tables and charts to identify peak and off-peak hours.</a:t>
            </a:r>
            <a:endParaRPr>
              <a:solidFill>
                <a:schemeClr val="dk1"/>
              </a:solidFill>
              <a:latin typeface="Lato"/>
              <a:ea typeface="Lato"/>
              <a:cs typeface="Lato"/>
              <a:sym typeface="Lato"/>
            </a:endParaRPr>
          </a:p>
          <a:p>
            <a:pPr indent="0" lvl="0" marL="0" rtl="0" algn="l">
              <a:lnSpc>
                <a:spcPct val="114000"/>
              </a:lnSpc>
              <a:spcBef>
                <a:spcPts val="0"/>
              </a:spcBef>
              <a:spcAft>
                <a:spcPts val="0"/>
              </a:spcAft>
              <a:buClr>
                <a:schemeClr val="dk1"/>
              </a:buClr>
              <a:buSzPts val="1100"/>
              <a:buFont typeface="Arial"/>
              <a:buNone/>
            </a:pPr>
            <a:r>
              <a:t/>
            </a:r>
            <a:endParaRPr>
              <a:solidFill>
                <a:schemeClr val="dk1"/>
              </a:solidFill>
              <a:latin typeface="Lato"/>
              <a:ea typeface="Lato"/>
              <a:cs typeface="Lato"/>
              <a:sym typeface="Lato"/>
            </a:endParaRPr>
          </a:p>
          <a:p>
            <a:pPr indent="-317500" lvl="0" marL="457200" rtl="0" algn="l">
              <a:spcBef>
                <a:spcPts val="0"/>
              </a:spcBef>
              <a:spcAft>
                <a:spcPts val="0"/>
              </a:spcAft>
              <a:buClr>
                <a:schemeClr val="dk1"/>
              </a:buClr>
              <a:buSzPts val="1400"/>
              <a:buFont typeface="Lato"/>
              <a:buChar char="➔"/>
            </a:pPr>
            <a:r>
              <a:rPr b="1" lang="en-GB">
                <a:solidFill>
                  <a:schemeClr val="dk1"/>
                </a:solidFill>
                <a:latin typeface="Lato"/>
                <a:ea typeface="Lato"/>
                <a:cs typeface="Lato"/>
                <a:sym typeface="Lato"/>
              </a:rPr>
              <a:t>What metrics should be included in the final dashboard to provide a comprehensive view of call center performance and guide investment decisions?</a:t>
            </a:r>
            <a:endParaRPr>
              <a:solidFill>
                <a:schemeClr val="dk1"/>
              </a:solidFill>
              <a:latin typeface="Lato"/>
              <a:ea typeface="Lato"/>
              <a:cs typeface="Lato"/>
              <a:sym typeface="Lato"/>
            </a:endParaRPr>
          </a:p>
          <a:p>
            <a:pPr indent="0" lvl="0" marL="457200" marR="0" rtl="0" algn="l">
              <a:lnSpc>
                <a:spcPct val="114000"/>
              </a:lnSpc>
              <a:spcBef>
                <a:spcPts val="0"/>
              </a:spcBef>
              <a:spcAft>
                <a:spcPts val="0"/>
              </a:spcAft>
              <a:buClr>
                <a:srgbClr val="000000"/>
              </a:buClr>
              <a:buSzPts val="1400"/>
              <a:buFont typeface="Arial"/>
              <a:buNone/>
            </a:pPr>
            <a:r>
              <a:t/>
            </a:r>
            <a:endParaRPr b="1">
              <a:solidFill>
                <a:schemeClr val="accent1"/>
              </a:solidFill>
              <a:latin typeface="Lato"/>
              <a:ea typeface="Lato"/>
              <a:cs typeface="Lato"/>
              <a:sym typeface="Lato"/>
            </a:endParaRPr>
          </a:p>
          <a:p>
            <a:pPr indent="0" lvl="0" marL="457200" marR="0" rtl="0" algn="l">
              <a:lnSpc>
                <a:spcPct val="114000"/>
              </a:lnSpc>
              <a:spcBef>
                <a:spcPts val="0"/>
              </a:spcBef>
              <a:spcAft>
                <a:spcPts val="0"/>
              </a:spcAft>
              <a:buClr>
                <a:srgbClr val="000000"/>
              </a:buClr>
              <a:buSzPts val="1400"/>
              <a:buFont typeface="Arial"/>
              <a:buNone/>
            </a:pPr>
            <a:r>
              <a:t/>
            </a:r>
            <a:endParaRPr b="1">
              <a:solidFill>
                <a:schemeClr val="accent1"/>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4"/>
          <p:cNvSpPr txBox="1"/>
          <p:nvPr/>
        </p:nvSpPr>
        <p:spPr>
          <a:xfrm>
            <a:off x="995850" y="667325"/>
            <a:ext cx="7237800" cy="3932100"/>
          </a:xfrm>
          <a:prstGeom prst="rect">
            <a:avLst/>
          </a:prstGeom>
          <a:noFill/>
          <a:ln>
            <a:noFill/>
          </a:ln>
        </p:spPr>
        <p:txBody>
          <a:bodyPr anchorCtr="0" anchor="t" bIns="91425" lIns="91425" spcFirstLastPara="1" rIns="91425" wrap="square" tIns="91425">
            <a:noAutofit/>
          </a:bodyPr>
          <a:lstStyle/>
          <a:p>
            <a:pPr indent="457200" lvl="0" marL="91440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a:p>
            <a:pPr indent="457200" lvl="0" marL="91440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a:p>
            <a:pPr indent="457200" lvl="0" marL="91440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a:p>
            <a:pPr indent="457200" lvl="0" marL="91440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a:p>
            <a:pPr indent="457200" lvl="0" marL="91440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a:p>
            <a:pPr indent="0" lvl="0" marL="1371600" marR="0" rtl="0" algn="l">
              <a:lnSpc>
                <a:spcPct val="100000"/>
              </a:lnSpc>
              <a:spcBef>
                <a:spcPts val="0"/>
              </a:spcBef>
              <a:spcAft>
                <a:spcPts val="0"/>
              </a:spcAft>
              <a:buClr>
                <a:srgbClr val="000000"/>
              </a:buClr>
              <a:buSzPts val="2100"/>
              <a:buFont typeface="Arial"/>
              <a:buNone/>
            </a:pPr>
            <a:r>
              <a:rPr b="1" i="0" lang="en-GB" sz="2100" u="none" cap="none" strike="noStrike">
                <a:solidFill>
                  <a:srgbClr val="000000"/>
                </a:solidFill>
                <a:latin typeface="Arial"/>
                <a:ea typeface="Arial"/>
                <a:cs typeface="Arial"/>
                <a:sym typeface="Arial"/>
              </a:rPr>
              <a:t>SUBMISSION DEMONSTRATION</a:t>
            </a:r>
            <a:endParaRPr b="1" i="0" sz="2100" u="none" cap="none" strike="noStrike">
              <a:solidFill>
                <a:srgbClr val="000000"/>
              </a:solidFill>
              <a:latin typeface="Arial"/>
              <a:ea typeface="Arial"/>
              <a:cs typeface="Arial"/>
              <a:sym typeface="Arial"/>
            </a:endParaRPr>
          </a:p>
          <a:p>
            <a:pPr indent="0" lvl="0" marL="228600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Arial"/>
                <a:ea typeface="Arial"/>
                <a:cs typeface="Arial"/>
                <a:sym typeface="Arial"/>
              </a:rPr>
              <a:t>Refer to the video released in the batch</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GB" sz="1500" u="none" cap="none" strike="noStrike">
                <a:solidFill>
                  <a:schemeClr val="dk1"/>
                </a:solidFill>
                <a:latin typeface="Arial"/>
                <a:ea typeface="Arial"/>
                <a:cs typeface="Arial"/>
                <a:sym typeface="Arial"/>
              </a:rPr>
              <a:t>                     One can use this</a:t>
            </a:r>
            <a:r>
              <a:rPr b="0" i="0" lang="en-GB" sz="1500" u="none" cap="none" strike="noStrike">
                <a:solidFill>
                  <a:srgbClr val="000000"/>
                </a:solidFill>
                <a:latin typeface="Arial"/>
                <a:ea typeface="Arial"/>
                <a:cs typeface="Arial"/>
                <a:sym typeface="Arial"/>
              </a:rPr>
              <a:t> </a:t>
            </a:r>
            <a:r>
              <a:rPr b="1" i="0" lang="en-GB" sz="1500" u="sng" cap="none" strike="noStrike">
                <a:solidFill>
                  <a:schemeClr val="hlink"/>
                </a:solidFill>
                <a:latin typeface="Arial"/>
                <a:ea typeface="Arial"/>
                <a:cs typeface="Arial"/>
                <a:sym typeface="Arial"/>
                <a:hlinkClick r:id="rId3"/>
              </a:rPr>
              <a:t>link</a:t>
            </a:r>
            <a:r>
              <a:rPr b="0" i="0" lang="en-GB" sz="1500" u="none" cap="none" strike="noStrike">
                <a:solidFill>
                  <a:srgbClr val="000000"/>
                </a:solidFill>
                <a:latin typeface="Arial"/>
                <a:ea typeface="Arial"/>
                <a:cs typeface="Arial"/>
                <a:sym typeface="Arial"/>
              </a:rPr>
              <a:t> </a:t>
            </a:r>
            <a:r>
              <a:rPr b="0" i="0" lang="en-GB" sz="1500" u="none" cap="none" strike="noStrike">
                <a:solidFill>
                  <a:schemeClr val="dk1"/>
                </a:solidFill>
                <a:latin typeface="Arial"/>
                <a:ea typeface="Arial"/>
                <a:cs typeface="Arial"/>
                <a:sym typeface="Arial"/>
              </a:rPr>
              <a:t>in order to understand the sample</a:t>
            </a:r>
            <a:endParaRPr b="0" i="0" sz="15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GB" sz="1500" u="none" cap="none" strike="noStrike">
                <a:solidFill>
                  <a:schemeClr val="dk1"/>
                </a:solidFill>
                <a:latin typeface="Arial"/>
                <a:ea typeface="Arial"/>
                <a:cs typeface="Arial"/>
                <a:sym typeface="Arial"/>
              </a:rPr>
              <a:t>                              approaches for each section of the project.</a:t>
            </a:r>
            <a:endParaRPr b="0" i="0" sz="15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g26864134713_1_3"/>
          <p:cNvPicPr preferRelativeResize="0"/>
          <p:nvPr/>
        </p:nvPicPr>
        <p:blipFill rotWithShape="1">
          <a:blip r:embed="rId3">
            <a:alphaModFix/>
          </a:blip>
          <a:srcRect b="0" l="0" r="0" t="0"/>
          <a:stretch/>
        </p:blipFill>
        <p:spPr>
          <a:xfrm>
            <a:off x="2388413" y="1364525"/>
            <a:ext cx="4367176" cy="3002451"/>
          </a:xfrm>
          <a:prstGeom prst="rect">
            <a:avLst/>
          </a:prstGeom>
          <a:noFill/>
          <a:ln>
            <a:noFill/>
          </a:ln>
        </p:spPr>
      </p:pic>
      <p:sp>
        <p:nvSpPr>
          <p:cNvPr id="138" name="Google Shape;138;g26864134713_1_3"/>
          <p:cNvSpPr txBox="1"/>
          <p:nvPr/>
        </p:nvSpPr>
        <p:spPr>
          <a:xfrm>
            <a:off x="493500" y="4450000"/>
            <a:ext cx="7737900" cy="54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i="0" lang="en-GB" sz="1400" u="none" cap="none" strike="noStrike">
                <a:solidFill>
                  <a:srgbClr val="000000"/>
                </a:solidFill>
                <a:latin typeface="Lato"/>
                <a:ea typeface="Lato"/>
                <a:cs typeface="Lato"/>
                <a:sym typeface="Lato"/>
              </a:rPr>
              <a:t>Look at the arrows and the comments to get familiar with the UI while submission and uploading the files on the platform. There is a space to paste the drive link and upload the zip file.</a:t>
            </a:r>
            <a:endParaRPr i="0" sz="1400" u="none" cap="none" strike="noStrike">
              <a:solidFill>
                <a:srgbClr val="000000"/>
              </a:solidFill>
              <a:latin typeface="Lato"/>
              <a:ea typeface="Lato"/>
              <a:cs typeface="Lato"/>
              <a:sym typeface="Lato"/>
            </a:endParaRPr>
          </a:p>
        </p:txBody>
      </p:sp>
      <p:sp>
        <p:nvSpPr>
          <p:cNvPr id="139" name="Google Shape;139;g26864134713_1_3"/>
          <p:cNvSpPr txBox="1"/>
          <p:nvPr/>
        </p:nvSpPr>
        <p:spPr>
          <a:xfrm>
            <a:off x="2096400" y="518025"/>
            <a:ext cx="4951200" cy="362700"/>
          </a:xfrm>
          <a:prstGeom prst="rect">
            <a:avLst/>
          </a:prstGeom>
          <a:noFill/>
          <a:ln>
            <a:noFill/>
          </a:ln>
        </p:spPr>
        <p:txBody>
          <a:bodyPr anchorCtr="0" anchor="t" bIns="91425" lIns="91425" spcFirstLastPara="1" rIns="91425" wrap="square" tIns="91425">
            <a:noAutofit/>
          </a:bodyPr>
          <a:lstStyle/>
          <a:p>
            <a:pPr indent="457200" lvl="0" marL="137160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Lato"/>
                <a:ea typeface="Lato"/>
                <a:cs typeface="Lato"/>
                <a:sym typeface="Lato"/>
              </a:rPr>
              <a:t>Submission UI</a:t>
            </a:r>
            <a:endParaRPr b="1" i="0" sz="1400" u="none" cap="none" strike="noStrike">
              <a:solidFill>
                <a:srgbClr val="000000"/>
              </a:solidFill>
              <a:latin typeface="Lato"/>
              <a:ea typeface="Lato"/>
              <a:cs typeface="Lato"/>
              <a:sym typeface="Lato"/>
            </a:endParaRPr>
          </a:p>
        </p:txBody>
      </p:sp>
      <p:sp>
        <p:nvSpPr>
          <p:cNvPr id="140" name="Google Shape;140;g26864134713_1_3"/>
          <p:cNvSpPr txBox="1"/>
          <p:nvPr/>
        </p:nvSpPr>
        <p:spPr>
          <a:xfrm>
            <a:off x="1334550" y="921125"/>
            <a:ext cx="6055800" cy="44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i="0" lang="en-GB" sz="1400" u="none" cap="none" strike="noStrike">
                <a:solidFill>
                  <a:srgbClr val="000000"/>
                </a:solidFill>
                <a:latin typeface="Lato"/>
                <a:ea typeface="Lato"/>
                <a:cs typeface="Lato"/>
                <a:sym typeface="Lato"/>
              </a:rPr>
              <a:t>The submission UI can be changed a bit from the video, kindly refer here.</a:t>
            </a:r>
            <a:endParaRPr i="0" sz="1400" u="none" cap="none" strike="noStrike">
              <a:solidFill>
                <a:srgbClr val="000000"/>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5"/>
          <p:cNvSpPr txBox="1"/>
          <p:nvPr/>
        </p:nvSpPr>
        <p:spPr>
          <a:xfrm>
            <a:off x="987800" y="449625"/>
            <a:ext cx="7237800" cy="4243200"/>
          </a:xfrm>
          <a:prstGeom prst="rect">
            <a:avLst/>
          </a:prstGeom>
          <a:noFill/>
          <a:ln>
            <a:noFill/>
          </a:ln>
        </p:spPr>
        <p:txBody>
          <a:bodyPr anchorCtr="0" anchor="t" bIns="91425" lIns="91425" spcFirstLastPara="1" rIns="91425" wrap="square" tIns="91425">
            <a:noAutofit/>
          </a:bodyPr>
          <a:lstStyle/>
          <a:p>
            <a:pPr indent="457200" lvl="0" marL="91440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a:p>
            <a:pPr indent="457200" lvl="0" marL="1828800" marR="0" rtl="0" algn="l">
              <a:lnSpc>
                <a:spcPct val="100000"/>
              </a:lnSpc>
              <a:spcBef>
                <a:spcPts val="0"/>
              </a:spcBef>
              <a:spcAft>
                <a:spcPts val="0"/>
              </a:spcAft>
              <a:buClr>
                <a:srgbClr val="000000"/>
              </a:buClr>
              <a:buSzPts val="2100"/>
              <a:buFont typeface="Arial"/>
              <a:buNone/>
            </a:pPr>
            <a:r>
              <a:rPr b="1" i="0" lang="en-GB" sz="2100" u="none" cap="none" strike="noStrike">
                <a:solidFill>
                  <a:srgbClr val="000000"/>
                </a:solidFill>
                <a:latin typeface="Arial"/>
                <a:ea typeface="Arial"/>
                <a:cs typeface="Arial"/>
                <a:sym typeface="Arial"/>
              </a:rPr>
              <a:t>SUBMISSION FLOW</a:t>
            </a:r>
            <a:endParaRPr b="1" i="0" sz="2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100"/>
              <a:buFont typeface="Arial"/>
              <a:buNone/>
            </a:pPr>
            <a:r>
              <a:t/>
            </a:r>
            <a:endParaRPr b="1" i="0" sz="2100" u="none" cap="none" strike="noStrike">
              <a:solidFill>
                <a:srgbClr val="000000"/>
              </a:solidFill>
              <a:latin typeface="Arial"/>
              <a:ea typeface="Arial"/>
              <a:cs typeface="Arial"/>
              <a:sym typeface="Arial"/>
            </a:endParaRPr>
          </a:p>
          <a:p>
            <a:pPr indent="-317500" lvl="0" marL="914400" marR="0" rtl="0" algn="l">
              <a:lnSpc>
                <a:spcPct val="100000"/>
              </a:lnSpc>
              <a:spcBef>
                <a:spcPts val="0"/>
              </a:spcBef>
              <a:spcAft>
                <a:spcPts val="0"/>
              </a:spcAft>
              <a:buClr>
                <a:srgbClr val="000000"/>
              </a:buClr>
              <a:buSzPts val="1400"/>
              <a:buFont typeface="Arial"/>
              <a:buAutoNum type="arabicPeriod"/>
            </a:pPr>
            <a:r>
              <a:rPr b="0" i="0" lang="en-GB" sz="1400" u="none" cap="none" strike="noStrike">
                <a:solidFill>
                  <a:schemeClr val="dk1"/>
                </a:solidFill>
                <a:latin typeface="Arial"/>
                <a:ea typeface="Arial"/>
                <a:cs typeface="Arial"/>
                <a:sym typeface="Arial"/>
              </a:rPr>
              <a:t>The candidates are supposed to have the </a:t>
            </a:r>
            <a:r>
              <a:rPr b="1" i="0" lang="en-GB" sz="1400" u="none" cap="none" strike="noStrike">
                <a:solidFill>
                  <a:schemeClr val="dk1"/>
                </a:solidFill>
                <a:latin typeface="Arial"/>
                <a:ea typeface="Arial"/>
                <a:cs typeface="Arial"/>
                <a:sym typeface="Arial"/>
              </a:rPr>
              <a:t>first</a:t>
            </a:r>
            <a:r>
              <a:rPr b="0" i="0" lang="en-GB" sz="1400" u="none" cap="none" strike="noStrike">
                <a:solidFill>
                  <a:schemeClr val="dk1"/>
                </a:solidFill>
                <a:latin typeface="Arial"/>
                <a:ea typeface="Arial"/>
                <a:cs typeface="Arial"/>
                <a:sym typeface="Arial"/>
              </a:rPr>
              <a:t> </a:t>
            </a:r>
            <a:r>
              <a:rPr b="1" i="0" lang="en-GB" sz="1400" u="none" cap="none" strike="noStrike">
                <a:solidFill>
                  <a:schemeClr val="dk1"/>
                </a:solidFill>
                <a:latin typeface="Arial"/>
                <a:ea typeface="Arial"/>
                <a:cs typeface="Arial"/>
                <a:sym typeface="Arial"/>
              </a:rPr>
              <a:t>submission for the project within the 10-day deadline</a:t>
            </a:r>
            <a:endParaRPr b="0" i="0" sz="1400" u="none" cap="none" strike="noStrike">
              <a:solidFill>
                <a:srgbClr val="000000"/>
              </a:solidFill>
              <a:latin typeface="Arial"/>
              <a:ea typeface="Arial"/>
              <a:cs typeface="Arial"/>
              <a:sym typeface="Arial"/>
            </a:endParaRPr>
          </a:p>
          <a:p>
            <a:pPr indent="-317500" lvl="0" marL="914400" marR="0" rtl="0" algn="l">
              <a:lnSpc>
                <a:spcPct val="100000"/>
              </a:lnSpc>
              <a:spcBef>
                <a:spcPts val="0"/>
              </a:spcBef>
              <a:spcAft>
                <a:spcPts val="0"/>
              </a:spcAft>
              <a:buClr>
                <a:schemeClr val="dk1"/>
              </a:buClr>
              <a:buSzPts val="1400"/>
              <a:buFont typeface="Arial"/>
              <a:buAutoNum type="arabicPeriod"/>
            </a:pPr>
            <a:r>
              <a:rPr b="0" i="0" lang="en-GB" sz="1400" u="none" cap="none" strike="noStrike">
                <a:solidFill>
                  <a:schemeClr val="dk1"/>
                </a:solidFill>
                <a:latin typeface="Arial"/>
                <a:ea typeface="Arial"/>
                <a:cs typeface="Arial"/>
                <a:sym typeface="Arial"/>
              </a:rPr>
              <a:t>After the submission, candidates will receive feedback on their project, which they are supposed to </a:t>
            </a:r>
            <a:r>
              <a:rPr b="1" i="0" lang="en-GB" sz="1400" u="none" cap="none" strike="noStrike">
                <a:solidFill>
                  <a:schemeClr val="dk1"/>
                </a:solidFill>
                <a:latin typeface="Arial"/>
                <a:ea typeface="Arial"/>
                <a:cs typeface="Arial"/>
                <a:sym typeface="Arial"/>
              </a:rPr>
              <a:t>incorporate and re-submit </a:t>
            </a:r>
            <a:r>
              <a:rPr b="0" i="0" lang="en-GB" sz="1400" u="none" cap="none" strike="noStrike">
                <a:solidFill>
                  <a:schemeClr val="dk1"/>
                </a:solidFill>
                <a:latin typeface="Arial"/>
                <a:ea typeface="Arial"/>
                <a:cs typeface="Arial"/>
                <a:sym typeface="Arial"/>
              </a:rPr>
              <a:t>within 1 week of feedback.</a:t>
            </a:r>
            <a:endParaRPr b="0" i="0" sz="1400" u="none" cap="none" strike="noStrike">
              <a:solidFill>
                <a:schemeClr val="dk1"/>
              </a:solidFill>
              <a:latin typeface="Arial"/>
              <a:ea typeface="Arial"/>
              <a:cs typeface="Arial"/>
              <a:sym typeface="Arial"/>
            </a:endParaRPr>
          </a:p>
          <a:p>
            <a:pPr indent="-317500" lvl="0" marL="914400" marR="0" rtl="0" algn="l">
              <a:lnSpc>
                <a:spcPct val="100000"/>
              </a:lnSpc>
              <a:spcBef>
                <a:spcPts val="0"/>
              </a:spcBef>
              <a:spcAft>
                <a:spcPts val="0"/>
              </a:spcAft>
              <a:buClr>
                <a:srgbClr val="000000"/>
              </a:buClr>
              <a:buSzPts val="1400"/>
              <a:buFont typeface="Arial"/>
              <a:buAutoNum type="arabicPeriod"/>
            </a:pPr>
            <a:r>
              <a:rPr b="0" i="0" lang="en-GB" sz="1400" u="none" cap="none" strike="noStrike">
                <a:solidFill>
                  <a:schemeClr val="dk1"/>
                </a:solidFill>
                <a:latin typeface="Arial"/>
                <a:ea typeface="Arial"/>
                <a:cs typeface="Arial"/>
                <a:sym typeface="Arial"/>
              </a:rPr>
              <a:t>All the candidates are supposed to get a total of </a:t>
            </a:r>
            <a:r>
              <a:rPr b="1" i="0" lang="en-GB" sz="1400" u="none" cap="none" strike="noStrike">
                <a:solidFill>
                  <a:schemeClr val="dk1"/>
                </a:solidFill>
                <a:latin typeface="Arial"/>
                <a:ea typeface="Arial"/>
                <a:cs typeface="Arial"/>
                <a:sym typeface="Arial"/>
              </a:rPr>
              <a:t>8 marks</a:t>
            </a:r>
            <a:r>
              <a:rPr b="0" i="0" lang="en-GB" sz="1400" u="none" cap="none" strike="noStrike">
                <a:solidFill>
                  <a:schemeClr val="dk1"/>
                </a:solidFill>
                <a:latin typeface="Arial"/>
                <a:ea typeface="Arial"/>
                <a:cs typeface="Arial"/>
                <a:sym typeface="Arial"/>
              </a:rPr>
              <a:t> to be prioritized in placements since is is necessary in Placements.</a:t>
            </a:r>
            <a:endParaRPr b="0" i="0" sz="1400" u="none" cap="none" strike="noStrike">
              <a:solidFill>
                <a:srgbClr val="000000"/>
              </a:solidFill>
              <a:latin typeface="Arial"/>
              <a:ea typeface="Arial"/>
              <a:cs typeface="Arial"/>
              <a:sym typeface="Arial"/>
            </a:endParaRPr>
          </a:p>
          <a:p>
            <a:pPr indent="-317500" lvl="0" marL="914400" marR="0" rtl="0" algn="l">
              <a:lnSpc>
                <a:spcPct val="100000"/>
              </a:lnSpc>
              <a:spcBef>
                <a:spcPts val="0"/>
              </a:spcBef>
              <a:spcAft>
                <a:spcPts val="0"/>
              </a:spcAft>
              <a:buClr>
                <a:srgbClr val="000000"/>
              </a:buClr>
              <a:buSzPts val="1400"/>
              <a:buFont typeface="Arial"/>
              <a:buAutoNum type="arabicPeriod"/>
            </a:pPr>
            <a:r>
              <a:rPr b="0" i="0" lang="en-GB" sz="1400" u="none" cap="none" strike="noStrike">
                <a:solidFill>
                  <a:srgbClr val="000000"/>
                </a:solidFill>
                <a:latin typeface="Arial"/>
                <a:ea typeface="Arial"/>
                <a:cs typeface="Arial"/>
                <a:sym typeface="Arial"/>
              </a:rPr>
              <a:t>The </a:t>
            </a:r>
            <a:r>
              <a:rPr b="1" i="0" lang="en-GB" sz="1400" u="none" cap="none" strike="noStrike">
                <a:solidFill>
                  <a:srgbClr val="000000"/>
                </a:solidFill>
                <a:latin typeface="Arial"/>
                <a:ea typeface="Arial"/>
                <a:cs typeface="Arial"/>
                <a:sym typeface="Arial"/>
              </a:rPr>
              <a:t>re-submissions</a:t>
            </a:r>
            <a:r>
              <a:rPr b="0" i="0" lang="en-GB" sz="1400" u="none" cap="none" strike="noStrike">
                <a:solidFill>
                  <a:srgbClr val="000000"/>
                </a:solidFill>
                <a:latin typeface="Arial"/>
                <a:ea typeface="Arial"/>
                <a:cs typeface="Arial"/>
                <a:sym typeface="Arial"/>
              </a:rPr>
              <a:t> after </a:t>
            </a:r>
            <a:r>
              <a:rPr b="1" i="0" lang="en-GB" sz="1400" u="none" cap="none" strike="noStrike">
                <a:solidFill>
                  <a:srgbClr val="000000"/>
                </a:solidFill>
                <a:latin typeface="Arial"/>
                <a:ea typeface="Arial"/>
                <a:cs typeface="Arial"/>
                <a:sym typeface="Arial"/>
              </a:rPr>
              <a:t>3 weeks</a:t>
            </a:r>
            <a:r>
              <a:rPr b="0" i="0" lang="en-GB" sz="1400" u="none" cap="none" strike="noStrike">
                <a:solidFill>
                  <a:srgbClr val="000000"/>
                </a:solidFill>
                <a:latin typeface="Arial"/>
                <a:ea typeface="Arial"/>
                <a:cs typeface="Arial"/>
                <a:sym typeface="Arial"/>
              </a:rPr>
              <a:t> of launch in the batch will be de-prioritised for evaluations.</a:t>
            </a:r>
            <a:endParaRPr b="0" i="0" sz="1400" u="none" cap="none" strike="noStrike">
              <a:solidFill>
                <a:srgbClr val="000000"/>
              </a:solidFill>
              <a:latin typeface="Arial"/>
              <a:ea typeface="Arial"/>
              <a:cs typeface="Arial"/>
              <a:sym typeface="Arial"/>
            </a:endParaRPr>
          </a:p>
          <a:p>
            <a:pPr indent="-317500" lvl="1" marL="1371600" marR="0" rtl="0" algn="l">
              <a:lnSpc>
                <a:spcPct val="100000"/>
              </a:lnSpc>
              <a:spcBef>
                <a:spcPts val="0"/>
              </a:spcBef>
              <a:spcAft>
                <a:spcPts val="0"/>
              </a:spcAft>
              <a:buClr>
                <a:srgbClr val="000000"/>
              </a:buClr>
              <a:buSzPts val="1400"/>
              <a:buFont typeface="Arial"/>
              <a:buAutoNum type="alphaLcPeriod"/>
            </a:pPr>
            <a:r>
              <a:rPr b="0" i="0" lang="en-GB" sz="1400" u="none" cap="none" strike="noStrike">
                <a:solidFill>
                  <a:srgbClr val="000000"/>
                </a:solidFill>
                <a:latin typeface="Arial"/>
                <a:ea typeface="Arial"/>
                <a:cs typeface="Arial"/>
                <a:sym typeface="Arial"/>
              </a:rPr>
              <a:t>Candidates will have to give the reason for their delay, in order to make sure that team picks up their evaluation.</a:t>
            </a:r>
            <a:endParaRPr b="0" i="0" sz="1400" u="none" cap="none" strike="noStrike">
              <a:solidFill>
                <a:srgbClr val="000000"/>
              </a:solidFill>
              <a:latin typeface="Arial"/>
              <a:ea typeface="Arial"/>
              <a:cs typeface="Arial"/>
              <a:sym typeface="Arial"/>
            </a:endParaRPr>
          </a:p>
          <a:p>
            <a:pPr indent="-317500" lvl="1" marL="1371600" marR="0" rtl="0" algn="l">
              <a:lnSpc>
                <a:spcPct val="100000"/>
              </a:lnSpc>
              <a:spcBef>
                <a:spcPts val="0"/>
              </a:spcBef>
              <a:spcAft>
                <a:spcPts val="0"/>
              </a:spcAft>
              <a:buClr>
                <a:srgbClr val="000000"/>
              </a:buClr>
              <a:buSzPts val="1400"/>
              <a:buFont typeface="Arial"/>
              <a:buAutoNum type="alphaLcPeriod"/>
            </a:pPr>
            <a:r>
              <a:rPr b="0" i="0" lang="en-GB" sz="1400" u="none" cap="none" strike="noStrike">
                <a:solidFill>
                  <a:srgbClr val="000000"/>
                </a:solidFill>
                <a:latin typeface="Arial"/>
                <a:ea typeface="Arial"/>
                <a:cs typeface="Arial"/>
                <a:sym typeface="Arial"/>
              </a:rPr>
              <a:t>This will create backlogs as the project for next module will also be releasing around the same time.</a:t>
            </a:r>
            <a:endParaRPr b="0" i="0" sz="1400" u="none" cap="none" strike="noStrike">
              <a:solidFill>
                <a:srgbClr val="000000"/>
              </a:solidFill>
              <a:latin typeface="Arial"/>
              <a:ea typeface="Arial"/>
              <a:cs typeface="Arial"/>
              <a:sym typeface="Arial"/>
            </a:endParaRPr>
          </a:p>
          <a:p>
            <a:pPr indent="-317500" lvl="0" marL="914400" marR="0" rtl="0" algn="l">
              <a:lnSpc>
                <a:spcPct val="100000"/>
              </a:lnSpc>
              <a:spcBef>
                <a:spcPts val="0"/>
              </a:spcBef>
              <a:spcAft>
                <a:spcPts val="0"/>
              </a:spcAft>
              <a:buClr>
                <a:srgbClr val="000000"/>
              </a:buClr>
              <a:buSzPts val="1400"/>
              <a:buFont typeface="Arial"/>
              <a:buAutoNum type="arabicPeriod"/>
            </a:pPr>
            <a:r>
              <a:rPr b="0" i="0" lang="en-GB" sz="1400" u="none" cap="none" strike="noStrike">
                <a:solidFill>
                  <a:srgbClr val="000000"/>
                </a:solidFill>
                <a:latin typeface="Arial"/>
                <a:ea typeface="Arial"/>
                <a:cs typeface="Arial"/>
                <a:sym typeface="Arial"/>
              </a:rPr>
              <a:t>So make sure to submit the project (with the requirements) within timeline.</a:t>
            </a:r>
            <a:endParaRPr b="0" i="0" sz="1400" u="none" cap="none" strike="noStrike">
              <a:solidFill>
                <a:srgbClr val="000000"/>
              </a:solidFill>
              <a:latin typeface="Arial"/>
              <a:ea typeface="Arial"/>
              <a:cs typeface="Arial"/>
              <a:sym typeface="Arial"/>
            </a:endParaRPr>
          </a:p>
          <a:p>
            <a:pPr indent="-317500" lvl="0" marL="914400" marR="0" rtl="0" algn="l">
              <a:lnSpc>
                <a:spcPct val="100000"/>
              </a:lnSpc>
              <a:spcBef>
                <a:spcPts val="0"/>
              </a:spcBef>
              <a:spcAft>
                <a:spcPts val="0"/>
              </a:spcAft>
              <a:buClr>
                <a:srgbClr val="000000"/>
              </a:buClr>
              <a:buSzPts val="1400"/>
              <a:buFont typeface="Arial"/>
              <a:buAutoNum type="arabicPeriod"/>
            </a:pPr>
            <a:r>
              <a:rPr b="0" i="0" lang="en-GB" sz="1400" u="none" cap="none" strike="noStrike">
                <a:solidFill>
                  <a:srgbClr val="000000"/>
                </a:solidFill>
                <a:latin typeface="Arial"/>
                <a:ea typeface="Arial"/>
                <a:cs typeface="Arial"/>
                <a:sym typeface="Arial"/>
              </a:rPr>
              <a:t>Candidates have to submit the zip of </a:t>
            </a:r>
            <a:r>
              <a:rPr b="1" i="0" lang="en-GB" sz="1400" u="none" cap="none" strike="noStrike">
                <a:solidFill>
                  <a:srgbClr val="000000"/>
                </a:solidFill>
                <a:latin typeface="Arial"/>
                <a:ea typeface="Arial"/>
                <a:cs typeface="Arial"/>
                <a:sym typeface="Arial"/>
              </a:rPr>
              <a:t>Excel</a:t>
            </a:r>
            <a:r>
              <a:rPr b="0" i="0" lang="en-GB" sz="1400" u="none" cap="none" strike="noStrike">
                <a:solidFill>
                  <a:srgbClr val="000000"/>
                </a:solidFill>
                <a:latin typeface="Arial"/>
                <a:ea typeface="Arial"/>
                <a:cs typeface="Arial"/>
                <a:sym typeface="Arial"/>
              </a:rPr>
              <a:t>, </a:t>
            </a:r>
            <a:r>
              <a:rPr b="1" i="0" lang="en-GB" sz="1400" u="none" cap="none" strike="noStrike">
                <a:solidFill>
                  <a:srgbClr val="000000"/>
                </a:solidFill>
                <a:latin typeface="Arial"/>
                <a:ea typeface="Arial"/>
                <a:cs typeface="Arial"/>
                <a:sym typeface="Arial"/>
              </a:rPr>
              <a:t>Docx</a:t>
            </a:r>
            <a:r>
              <a:rPr b="0" i="0" lang="en-GB" sz="1400" u="none" cap="none" strike="noStrike">
                <a:solidFill>
                  <a:srgbClr val="000000"/>
                </a:solidFill>
                <a:latin typeface="Arial"/>
                <a:ea typeface="Arial"/>
                <a:cs typeface="Arial"/>
                <a:sym typeface="Arial"/>
              </a:rPr>
              <a:t> and </a:t>
            </a:r>
            <a:r>
              <a:rPr b="1" i="0" lang="en-GB" sz="1400" u="none" cap="none" strike="noStrike">
                <a:solidFill>
                  <a:srgbClr val="000000"/>
                </a:solidFill>
                <a:latin typeface="Arial"/>
                <a:ea typeface="Arial"/>
                <a:cs typeface="Arial"/>
                <a:sym typeface="Arial"/>
              </a:rPr>
              <a:t>Presentation</a:t>
            </a:r>
            <a:r>
              <a:rPr b="0" i="0" lang="en-GB" sz="1400" u="none" cap="none" strike="noStrike">
                <a:solidFill>
                  <a:srgbClr val="000000"/>
                </a:solidFill>
                <a:latin typeface="Arial"/>
                <a:ea typeface="Arial"/>
                <a:cs typeface="Arial"/>
                <a:sym typeface="Arial"/>
              </a:rPr>
              <a:t> files.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6"/>
          <p:cNvSpPr txBox="1"/>
          <p:nvPr/>
        </p:nvSpPr>
        <p:spPr>
          <a:xfrm>
            <a:off x="616000" y="780250"/>
            <a:ext cx="8049000" cy="3747300"/>
          </a:xfrm>
          <a:prstGeom prst="rect">
            <a:avLst/>
          </a:prstGeom>
          <a:noFill/>
          <a:ln>
            <a:noFill/>
          </a:ln>
        </p:spPr>
        <p:txBody>
          <a:bodyPr anchorCtr="0" anchor="t" bIns="91425" lIns="91425" spcFirstLastPara="1" rIns="91425" wrap="square" tIns="91425">
            <a:noAutofit/>
          </a:bodyPr>
          <a:lstStyle/>
          <a:p>
            <a:pPr indent="0" lvl="0" marL="457200" marR="0" rtl="0" algn="l">
              <a:lnSpc>
                <a:spcPct val="100000"/>
              </a:lnSpc>
              <a:spcBef>
                <a:spcPts val="0"/>
              </a:spcBef>
              <a:spcAft>
                <a:spcPts val="0"/>
              </a:spcAft>
              <a:buClr>
                <a:srgbClr val="000000"/>
              </a:buClr>
              <a:buSzPts val="1900"/>
              <a:buFont typeface="Arial"/>
              <a:buNone/>
            </a:pPr>
            <a:r>
              <a:t/>
            </a:r>
            <a:endParaRPr b="1" i="0" sz="19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900"/>
              <a:buFont typeface="Arial"/>
              <a:buNone/>
            </a:pPr>
            <a:r>
              <a:rPr b="1" i="0" lang="en-GB" sz="1900" u="none" cap="none" strike="noStrike">
                <a:solidFill>
                  <a:srgbClr val="000000"/>
                </a:solidFill>
                <a:latin typeface="Arial"/>
                <a:ea typeface="Arial"/>
                <a:cs typeface="Arial"/>
                <a:sym typeface="Arial"/>
              </a:rPr>
              <a:t>   GUIDELINES:</a:t>
            </a:r>
            <a:endParaRPr b="0" i="0" sz="1400" u="none" cap="none" strike="noStrike">
              <a:solidFill>
                <a:srgbClr val="000000"/>
              </a:solidFill>
              <a:latin typeface="Arial"/>
              <a:ea typeface="Arial"/>
              <a:cs typeface="Arial"/>
              <a:sym typeface="Arial"/>
            </a:endParaRPr>
          </a:p>
          <a:p>
            <a:pPr indent="0" lvl="0" marL="13716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23850" lvl="0" marL="1371600" marR="0" rtl="0" algn="l">
              <a:lnSpc>
                <a:spcPct val="100000"/>
              </a:lnSpc>
              <a:spcBef>
                <a:spcPts val="0"/>
              </a:spcBef>
              <a:spcAft>
                <a:spcPts val="0"/>
              </a:spcAft>
              <a:buClr>
                <a:srgbClr val="000000"/>
              </a:buClr>
              <a:buSzPts val="1500"/>
              <a:buFont typeface="Arial"/>
              <a:buAutoNum type="arabicPeriod"/>
            </a:pPr>
            <a:r>
              <a:rPr b="0" i="0" lang="en-GB" sz="1400" u="none" cap="none" strike="noStrike">
                <a:solidFill>
                  <a:srgbClr val="000000"/>
                </a:solidFill>
                <a:latin typeface="Arial"/>
                <a:ea typeface="Arial"/>
                <a:cs typeface="Arial"/>
                <a:sym typeface="Arial"/>
              </a:rPr>
              <a:t>Ensure to submit the project within the deadline.</a:t>
            </a:r>
            <a:endParaRPr b="0" i="0" sz="1400" u="none" cap="none" strike="noStrike">
              <a:solidFill>
                <a:srgbClr val="000000"/>
              </a:solidFill>
              <a:latin typeface="Arial"/>
              <a:ea typeface="Arial"/>
              <a:cs typeface="Arial"/>
              <a:sym typeface="Arial"/>
            </a:endParaRPr>
          </a:p>
          <a:p>
            <a:pPr indent="-323850" lvl="0" marL="1371600" marR="0" rtl="0" algn="l">
              <a:lnSpc>
                <a:spcPct val="100000"/>
              </a:lnSpc>
              <a:spcBef>
                <a:spcPts val="0"/>
              </a:spcBef>
              <a:spcAft>
                <a:spcPts val="0"/>
              </a:spcAft>
              <a:buClr>
                <a:srgbClr val="000000"/>
              </a:buClr>
              <a:buSzPts val="1500"/>
              <a:buFont typeface="Arial"/>
              <a:buAutoNum type="arabicPeriod"/>
            </a:pPr>
            <a:r>
              <a:rPr b="0" i="0" lang="en-GB" sz="1400" u="none" cap="none" strike="noStrike">
                <a:solidFill>
                  <a:srgbClr val="000000"/>
                </a:solidFill>
                <a:latin typeface="Arial"/>
                <a:ea typeface="Arial"/>
                <a:cs typeface="Arial"/>
                <a:sym typeface="Arial"/>
              </a:rPr>
              <a:t>TA support won’t be answering any direct questions regarding project, they can help in the approach but not with the exact soln.</a:t>
            </a:r>
            <a:endParaRPr b="0" i="0" sz="1400" u="none" cap="none" strike="noStrike">
              <a:solidFill>
                <a:srgbClr val="000000"/>
              </a:solidFill>
              <a:latin typeface="Arial"/>
              <a:ea typeface="Arial"/>
              <a:cs typeface="Arial"/>
              <a:sym typeface="Arial"/>
            </a:endParaRPr>
          </a:p>
          <a:p>
            <a:pPr indent="-323850" lvl="0" marL="1371600" marR="0" rtl="0" algn="l">
              <a:lnSpc>
                <a:spcPct val="100000"/>
              </a:lnSpc>
              <a:spcBef>
                <a:spcPts val="0"/>
              </a:spcBef>
              <a:spcAft>
                <a:spcPts val="0"/>
              </a:spcAft>
              <a:buClr>
                <a:srgbClr val="000000"/>
              </a:buClr>
              <a:buSzPts val="1500"/>
              <a:buFont typeface="Arial"/>
              <a:buAutoNum type="arabicPeriod"/>
            </a:pPr>
            <a:r>
              <a:rPr b="0" i="0" lang="en-GB" sz="1400" u="none" cap="none" strike="noStrike">
                <a:solidFill>
                  <a:srgbClr val="000000"/>
                </a:solidFill>
                <a:latin typeface="Arial"/>
                <a:ea typeface="Arial"/>
                <a:cs typeface="Arial"/>
                <a:sym typeface="Arial"/>
              </a:rPr>
              <a:t>Plagiarism will be checked during evaluation.</a:t>
            </a:r>
            <a:endParaRPr b="0" i="0" sz="1400" u="none" cap="none" strike="noStrike">
              <a:solidFill>
                <a:srgbClr val="000000"/>
              </a:solidFill>
              <a:latin typeface="Arial"/>
              <a:ea typeface="Arial"/>
              <a:cs typeface="Arial"/>
              <a:sym typeface="Arial"/>
            </a:endParaRPr>
          </a:p>
          <a:p>
            <a:pPr indent="-323850" lvl="0" marL="1371600" marR="0" rtl="0" algn="l">
              <a:lnSpc>
                <a:spcPct val="100000"/>
              </a:lnSpc>
              <a:spcBef>
                <a:spcPts val="0"/>
              </a:spcBef>
              <a:spcAft>
                <a:spcPts val="0"/>
              </a:spcAft>
              <a:buClr>
                <a:srgbClr val="000000"/>
              </a:buClr>
              <a:buSzPts val="1500"/>
              <a:buFont typeface="Arial"/>
              <a:buAutoNum type="arabicPeriod"/>
            </a:pPr>
            <a:r>
              <a:rPr b="0" i="0" lang="en-GB" sz="1400" u="none" cap="none" strike="noStrike">
                <a:solidFill>
                  <a:srgbClr val="000000"/>
                </a:solidFill>
                <a:latin typeface="Arial"/>
                <a:ea typeface="Arial"/>
                <a:cs typeface="Arial"/>
                <a:sym typeface="Arial"/>
              </a:rPr>
              <a:t>Queries regarding submission should be asked to success champions.</a:t>
            </a:r>
            <a:endParaRPr b="0" i="0" sz="1400" u="none" cap="none" strike="noStrike">
              <a:solidFill>
                <a:srgbClr val="000000"/>
              </a:solidFill>
              <a:latin typeface="Arial"/>
              <a:ea typeface="Arial"/>
              <a:cs typeface="Arial"/>
              <a:sym typeface="Arial"/>
            </a:endParaRPr>
          </a:p>
          <a:p>
            <a:pPr indent="-323850" lvl="0" marL="1371600" marR="0" rtl="0" algn="l">
              <a:lnSpc>
                <a:spcPct val="100000"/>
              </a:lnSpc>
              <a:spcBef>
                <a:spcPts val="0"/>
              </a:spcBef>
              <a:spcAft>
                <a:spcPts val="0"/>
              </a:spcAft>
              <a:buClr>
                <a:srgbClr val="000000"/>
              </a:buClr>
              <a:buSzPts val="1500"/>
              <a:buFont typeface="Arial"/>
              <a:buAutoNum type="arabicPeriod"/>
            </a:pPr>
            <a:r>
              <a:rPr b="0" i="0" lang="en-GB" sz="1400" u="none" cap="none" strike="noStrike">
                <a:solidFill>
                  <a:srgbClr val="000000"/>
                </a:solidFill>
                <a:latin typeface="Arial"/>
                <a:ea typeface="Arial"/>
                <a:cs typeface="Arial"/>
                <a:sym typeface="Arial"/>
              </a:rPr>
              <a:t>Candidates must score &gt;=8 out of 10 in order to be picked for referrals.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7"/>
          <p:cNvSpPr txBox="1"/>
          <p:nvPr/>
        </p:nvSpPr>
        <p:spPr>
          <a:xfrm>
            <a:off x="1823250" y="338775"/>
            <a:ext cx="5497500" cy="449100"/>
          </a:xfrm>
          <a:prstGeom prst="rect">
            <a:avLst/>
          </a:prstGeom>
          <a:noFill/>
          <a:ln>
            <a:noFill/>
          </a:ln>
        </p:spPr>
        <p:txBody>
          <a:bodyPr anchorCtr="0" anchor="t" bIns="91425" lIns="91425" spcFirstLastPara="1" rIns="91425" wrap="square" tIns="91425">
            <a:noAutofit/>
          </a:bodyPr>
          <a:lstStyle/>
          <a:p>
            <a:pPr indent="0" lvl="0" marL="1828800" marR="0" rtl="0" algn="l">
              <a:lnSpc>
                <a:spcPct val="100000"/>
              </a:lnSpc>
              <a:spcBef>
                <a:spcPts val="0"/>
              </a:spcBef>
              <a:spcAft>
                <a:spcPts val="0"/>
              </a:spcAft>
              <a:buClr>
                <a:srgbClr val="000000"/>
              </a:buClr>
              <a:buSzPts val="2400"/>
              <a:buFont typeface="Arial"/>
              <a:buNone/>
            </a:pPr>
            <a:r>
              <a:rPr b="0" i="0" lang="en-GB" sz="2400" u="none" cap="none" strike="noStrike">
                <a:solidFill>
                  <a:srgbClr val="000000"/>
                </a:solidFill>
                <a:latin typeface="Lato"/>
                <a:ea typeface="Lato"/>
                <a:cs typeface="Lato"/>
                <a:sym typeface="Lato"/>
              </a:rPr>
              <a:t>   </a:t>
            </a:r>
            <a:r>
              <a:rPr b="1" i="0" lang="en-GB" sz="2100" u="none" cap="none" strike="noStrike">
                <a:solidFill>
                  <a:srgbClr val="000000"/>
                </a:solidFill>
                <a:latin typeface="Lato"/>
                <a:ea typeface="Lato"/>
                <a:cs typeface="Lato"/>
                <a:sym typeface="Lato"/>
              </a:rPr>
              <a:t>EVALUATION</a:t>
            </a:r>
            <a:endParaRPr b="1" i="0" sz="2100" u="none" cap="none" strike="noStrike">
              <a:solidFill>
                <a:srgbClr val="000000"/>
              </a:solidFill>
              <a:latin typeface="Lato"/>
              <a:ea typeface="Lato"/>
              <a:cs typeface="Lato"/>
              <a:sym typeface="Lato"/>
            </a:endParaRPr>
          </a:p>
        </p:txBody>
      </p:sp>
      <p:sp>
        <p:nvSpPr>
          <p:cNvPr id="156" name="Google Shape;156;p17"/>
          <p:cNvSpPr txBox="1"/>
          <p:nvPr/>
        </p:nvSpPr>
        <p:spPr>
          <a:xfrm>
            <a:off x="691200" y="787863"/>
            <a:ext cx="7761600" cy="10134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rgbClr val="000000"/>
              </a:buClr>
              <a:buSzPts val="1200"/>
              <a:buFont typeface="Lato"/>
              <a:buChar char="●"/>
            </a:pPr>
            <a:r>
              <a:rPr b="0" i="0" lang="en-GB" sz="1200" u="none" cap="none" strike="noStrike">
                <a:solidFill>
                  <a:srgbClr val="000000"/>
                </a:solidFill>
                <a:latin typeface="Lato"/>
                <a:ea typeface="Lato"/>
                <a:cs typeface="Lato"/>
                <a:sym typeface="Lato"/>
              </a:rPr>
              <a:t>The projects will be evaluated on </a:t>
            </a:r>
            <a:r>
              <a:rPr b="1" i="0" lang="en-GB" sz="1200" u="none" cap="none" strike="noStrike">
                <a:solidFill>
                  <a:srgbClr val="000000"/>
                </a:solidFill>
                <a:latin typeface="Lato"/>
                <a:ea typeface="Lato"/>
                <a:cs typeface="Lato"/>
                <a:sym typeface="Lato"/>
              </a:rPr>
              <a:t>10 levels (Each learner will receive a detailed feedback)</a:t>
            </a:r>
            <a:r>
              <a:rPr b="0" i="0" lang="en-GB" sz="1200" u="none" cap="none" strike="noStrike">
                <a:solidFill>
                  <a:srgbClr val="000000"/>
                </a:solidFill>
                <a:latin typeface="Lato"/>
                <a:ea typeface="Lato"/>
                <a:cs typeface="Lato"/>
                <a:sym typeface="Lato"/>
              </a:rPr>
              <a:t>.</a:t>
            </a:r>
            <a:endParaRPr b="0" i="0" sz="1200" u="none" cap="none" strike="noStrike">
              <a:solidFill>
                <a:srgbClr val="000000"/>
              </a:solidFill>
              <a:latin typeface="Lato"/>
              <a:ea typeface="Lato"/>
              <a:cs typeface="Lato"/>
              <a:sym typeface="Lato"/>
            </a:endParaRPr>
          </a:p>
          <a:p>
            <a:pPr indent="-304800" lvl="0" marL="457200" marR="0" rtl="0" algn="l">
              <a:lnSpc>
                <a:spcPct val="100000"/>
              </a:lnSpc>
              <a:spcBef>
                <a:spcPts val="0"/>
              </a:spcBef>
              <a:spcAft>
                <a:spcPts val="0"/>
              </a:spcAft>
              <a:buClr>
                <a:srgbClr val="000000"/>
              </a:buClr>
              <a:buSzPts val="1200"/>
              <a:buFont typeface="Lato"/>
              <a:buChar char="●"/>
            </a:pPr>
            <a:r>
              <a:rPr b="0" i="0" lang="en-GB" sz="1200" u="none" cap="none" strike="noStrike">
                <a:solidFill>
                  <a:srgbClr val="000000"/>
                </a:solidFill>
                <a:latin typeface="Lato"/>
                <a:ea typeface="Lato"/>
                <a:cs typeface="Lato"/>
                <a:sym typeface="Lato"/>
              </a:rPr>
              <a:t>On each level, learners will get a </a:t>
            </a:r>
            <a:r>
              <a:rPr b="1" i="0" lang="en-GB" sz="1200" u="none" cap="none" strike="noStrike">
                <a:solidFill>
                  <a:srgbClr val="000000"/>
                </a:solidFill>
                <a:latin typeface="Lato"/>
                <a:ea typeface="Lato"/>
                <a:cs typeface="Lato"/>
                <a:sym typeface="Lato"/>
              </a:rPr>
              <a:t>rating out of 5</a:t>
            </a:r>
            <a:r>
              <a:rPr b="0" i="0" lang="en-GB" sz="1200" u="none" cap="none" strike="noStrike">
                <a:solidFill>
                  <a:srgbClr val="000000"/>
                </a:solidFill>
                <a:latin typeface="Lato"/>
                <a:ea typeface="Lato"/>
                <a:cs typeface="Lato"/>
                <a:sym typeface="Lato"/>
              </a:rPr>
              <a:t> and if the rating is smaller than 4, he won’t be considered as passed at that level.</a:t>
            </a:r>
            <a:endParaRPr b="0" i="0" sz="1200" u="none" cap="none" strike="noStrike">
              <a:solidFill>
                <a:srgbClr val="000000"/>
              </a:solidFill>
              <a:latin typeface="Lato"/>
              <a:ea typeface="Lato"/>
              <a:cs typeface="Lato"/>
              <a:sym typeface="Lato"/>
            </a:endParaRPr>
          </a:p>
          <a:p>
            <a:pPr indent="-304800" lvl="0" marL="457200" marR="0" rtl="0" algn="l">
              <a:lnSpc>
                <a:spcPct val="100000"/>
              </a:lnSpc>
              <a:spcBef>
                <a:spcPts val="0"/>
              </a:spcBef>
              <a:spcAft>
                <a:spcPts val="0"/>
              </a:spcAft>
              <a:buClr>
                <a:srgbClr val="000000"/>
              </a:buClr>
              <a:buSzPts val="1200"/>
              <a:buFont typeface="Lato"/>
              <a:buChar char="●"/>
            </a:pPr>
            <a:r>
              <a:rPr b="0" i="0" lang="en-GB" sz="1200" u="none" cap="none" strike="noStrike">
                <a:solidFill>
                  <a:schemeClr val="dk1"/>
                </a:solidFill>
                <a:latin typeface="Lato"/>
                <a:ea typeface="Lato"/>
                <a:cs typeface="Lato"/>
                <a:sym typeface="Lato"/>
              </a:rPr>
              <a:t>Learners have to get </a:t>
            </a:r>
            <a:r>
              <a:rPr b="1" i="0" lang="en-GB" sz="1200" u="none" cap="none" strike="noStrike">
                <a:solidFill>
                  <a:schemeClr val="dk1"/>
                </a:solidFill>
                <a:latin typeface="Lato"/>
                <a:ea typeface="Lato"/>
                <a:cs typeface="Lato"/>
                <a:sym typeface="Lato"/>
              </a:rPr>
              <a:t>&gt;=4 (or passed)</a:t>
            </a:r>
            <a:r>
              <a:rPr b="0" i="0" lang="en-GB" sz="1200" u="none" cap="none" strike="noStrike">
                <a:solidFill>
                  <a:schemeClr val="dk1"/>
                </a:solidFill>
                <a:latin typeface="Lato"/>
                <a:ea typeface="Lato"/>
                <a:cs typeface="Lato"/>
                <a:sym typeface="Lato"/>
              </a:rPr>
              <a:t> in at least</a:t>
            </a:r>
            <a:r>
              <a:rPr b="1" i="0" lang="en-GB" sz="1200" u="none" cap="none" strike="noStrike">
                <a:solidFill>
                  <a:schemeClr val="dk1"/>
                </a:solidFill>
                <a:latin typeface="Lato"/>
                <a:ea typeface="Lato"/>
                <a:cs typeface="Lato"/>
                <a:sym typeface="Lato"/>
              </a:rPr>
              <a:t> 8 levels</a:t>
            </a:r>
            <a:r>
              <a:rPr b="0" i="0" lang="en-GB" sz="1200" u="none" cap="none" strike="noStrike">
                <a:solidFill>
                  <a:schemeClr val="dk1"/>
                </a:solidFill>
                <a:latin typeface="Lato"/>
                <a:ea typeface="Lato"/>
                <a:cs typeface="Lato"/>
                <a:sym typeface="Lato"/>
              </a:rPr>
              <a:t> to get </a:t>
            </a:r>
            <a:r>
              <a:rPr b="1" i="0" lang="en-GB" sz="1200" u="none" cap="none" strike="noStrike">
                <a:solidFill>
                  <a:schemeClr val="dk1"/>
                </a:solidFill>
                <a:latin typeface="Lato"/>
                <a:ea typeface="Lato"/>
                <a:cs typeface="Lato"/>
                <a:sym typeface="Lato"/>
              </a:rPr>
              <a:t>&gt;=8</a:t>
            </a:r>
            <a:r>
              <a:rPr b="0" i="0" lang="en-GB" sz="1200" u="none" cap="none" strike="noStrike">
                <a:solidFill>
                  <a:schemeClr val="dk1"/>
                </a:solidFill>
                <a:latin typeface="Lato"/>
                <a:ea typeface="Lato"/>
                <a:cs typeface="Lato"/>
                <a:sym typeface="Lato"/>
              </a:rPr>
              <a:t> as the final rating in the project.</a:t>
            </a:r>
            <a:endParaRPr b="0" i="0" sz="1200" u="none" cap="none" strike="noStrike">
              <a:solidFill>
                <a:schemeClr val="dk1"/>
              </a:solidFill>
              <a:latin typeface="Lato"/>
              <a:ea typeface="Lato"/>
              <a:cs typeface="Lato"/>
              <a:sym typeface="Lato"/>
            </a:endParaRPr>
          </a:p>
          <a:p>
            <a:pPr indent="-304800" lvl="0" marL="457200" marR="0" rtl="0" algn="l">
              <a:lnSpc>
                <a:spcPct val="100000"/>
              </a:lnSpc>
              <a:spcBef>
                <a:spcPts val="0"/>
              </a:spcBef>
              <a:spcAft>
                <a:spcPts val="0"/>
              </a:spcAft>
              <a:buClr>
                <a:schemeClr val="dk1"/>
              </a:buClr>
              <a:buSzPts val="1200"/>
              <a:buFont typeface="Lato"/>
              <a:buChar char="●"/>
            </a:pPr>
            <a:r>
              <a:rPr b="0" i="0" lang="en-GB" sz="1200" u="none" cap="none" strike="noStrike">
                <a:solidFill>
                  <a:schemeClr val="dk1"/>
                </a:solidFill>
                <a:latin typeface="Lato"/>
                <a:ea typeface="Lato"/>
                <a:cs typeface="Lato"/>
                <a:sym typeface="Lato"/>
              </a:rPr>
              <a:t>In the final feedback, only the final feedback out of 10 will be considered.</a:t>
            </a:r>
            <a:endParaRPr b="0" i="0" sz="1200" u="none" cap="none" strike="noStrike">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GB" sz="1200">
                <a:solidFill>
                  <a:schemeClr val="dk1"/>
                </a:solidFill>
                <a:latin typeface="Lato"/>
                <a:ea typeface="Lato"/>
                <a:cs typeface="Lato"/>
                <a:sym typeface="Lato"/>
              </a:rPr>
              <a:t>The ratings of level 9-10 will only be considered and included in the final feedback if someone is passing in all the Levels from 1 - 8. They (levels 1-8) are compulsory, in order to get passed in the final feedback.</a:t>
            </a:r>
            <a:endParaRPr sz="1200">
              <a:solidFill>
                <a:schemeClr val="dk1"/>
              </a:solidFill>
              <a:latin typeface="Lato"/>
              <a:ea typeface="Lato"/>
              <a:cs typeface="Lato"/>
              <a:sym typeface="Lato"/>
            </a:endParaRPr>
          </a:p>
          <a:p>
            <a:pPr indent="0" lvl="0" marL="45720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Lato"/>
              <a:ea typeface="Lato"/>
              <a:cs typeface="Lato"/>
              <a:sym typeface="Lato"/>
            </a:endParaRPr>
          </a:p>
        </p:txBody>
      </p:sp>
      <p:pic>
        <p:nvPicPr>
          <p:cNvPr id="157" name="Google Shape;157;p17"/>
          <p:cNvPicPr preferRelativeResize="0"/>
          <p:nvPr/>
        </p:nvPicPr>
        <p:blipFill rotWithShape="1">
          <a:blip r:embed="rId3">
            <a:alphaModFix/>
          </a:blip>
          <a:srcRect b="0" l="0" r="0" t="0"/>
          <a:stretch/>
        </p:blipFill>
        <p:spPr>
          <a:xfrm>
            <a:off x="7768475" y="3953025"/>
            <a:ext cx="1375525" cy="1190475"/>
          </a:xfrm>
          <a:prstGeom prst="rect">
            <a:avLst/>
          </a:prstGeom>
          <a:noFill/>
          <a:ln>
            <a:noFill/>
          </a:ln>
        </p:spPr>
      </p:pic>
      <p:pic>
        <p:nvPicPr>
          <p:cNvPr id="158" name="Google Shape;158;p17"/>
          <p:cNvPicPr preferRelativeResize="0"/>
          <p:nvPr/>
        </p:nvPicPr>
        <p:blipFill rotWithShape="1">
          <a:blip r:embed="rId4">
            <a:alphaModFix/>
          </a:blip>
          <a:srcRect b="0" l="0" r="0" t="0"/>
          <a:stretch/>
        </p:blipFill>
        <p:spPr>
          <a:xfrm>
            <a:off x="1528300" y="2366825"/>
            <a:ext cx="5450701" cy="2563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18"/>
          <p:cNvPicPr preferRelativeResize="0"/>
          <p:nvPr/>
        </p:nvPicPr>
        <p:blipFill rotWithShape="1">
          <a:blip r:embed="rId3">
            <a:alphaModFix/>
          </a:blip>
          <a:srcRect b="0" l="0" r="0" t="0"/>
          <a:stretch/>
        </p:blipFill>
        <p:spPr>
          <a:xfrm>
            <a:off x="1528750" y="857250"/>
            <a:ext cx="6086475" cy="3429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newton">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