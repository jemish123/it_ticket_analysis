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42A115-B895-4D74-B2F6-B3FDDC81DE4F}">
  <a:tblStyle styleId="{0942A115-B895-4D74-B2F6-B3FDDC81DE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398d3475c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e398d3475c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9cb99052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e9cb990523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398d3475c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e398d3475c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398d3475c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e398d3475c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9cb99052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e9cb99052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1" name="Shape 21"/>
        <p:cNvGrpSpPr/>
        <p:nvPr/>
      </p:nvGrpSpPr>
      <p:grpSpPr>
        <a:xfrm>
          <a:off x="0" y="0"/>
          <a:ext cx="0" cy="0"/>
          <a:chOff x="0" y="0"/>
          <a:chExt cx="0" cy="0"/>
        </a:xfrm>
      </p:grpSpPr>
      <p:sp>
        <p:nvSpPr>
          <p:cNvPr id="22" name="Google Shape;22;p2"/>
          <p:cNvSpPr txBox="1"/>
          <p:nvPr>
            <p:ph type="title"/>
          </p:nvPr>
        </p:nvSpPr>
        <p:spPr>
          <a:xfrm>
            <a:off x="1116000" y="1999080"/>
            <a:ext cx="4384440" cy="16984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16000" y="1999080"/>
            <a:ext cx="4384440" cy="169848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grpSp>
        <p:nvGrpSpPr>
          <p:cNvPr id="7" name="Google Shape;7;p1"/>
          <p:cNvGrpSpPr/>
          <p:nvPr/>
        </p:nvGrpSpPr>
        <p:grpSpPr>
          <a:xfrm>
            <a:off x="7612200" y="-540720"/>
            <a:ext cx="1110960" cy="1110960"/>
            <a:chOff x="7612200" y="-540720"/>
            <a:chExt cx="1110960" cy="1110960"/>
          </a:xfrm>
        </p:grpSpPr>
        <p:sp>
          <p:nvSpPr>
            <p:cNvPr id="8" name="Google Shape;8;p1"/>
            <p:cNvSpPr/>
            <p:nvPr/>
          </p:nvSpPr>
          <p:spPr>
            <a:xfrm>
              <a:off x="7612200" y="-540720"/>
              <a:ext cx="1110960" cy="1110960"/>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rgbClr val="00CADA"/>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 name="Google Shape;9;p1"/>
            <p:cNvSpPr/>
            <p:nvPr/>
          </p:nvSpPr>
          <p:spPr>
            <a:xfrm>
              <a:off x="7786080" y="-367200"/>
              <a:ext cx="763560" cy="761760"/>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rgbClr val="AFAFB6"/>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0" name="Google Shape;10;p1"/>
          <p:cNvGrpSpPr/>
          <p:nvPr/>
        </p:nvGrpSpPr>
        <p:grpSpPr>
          <a:xfrm>
            <a:off x="8208900" y="2109060"/>
            <a:ext cx="1159740" cy="247500"/>
            <a:chOff x="8208900" y="2109060"/>
            <a:chExt cx="1159740" cy="247500"/>
          </a:xfrm>
        </p:grpSpPr>
        <p:sp>
          <p:nvSpPr>
            <p:cNvPr id="11" name="Google Shape;11;p1"/>
            <p:cNvSpPr/>
            <p:nvPr/>
          </p:nvSpPr>
          <p:spPr>
            <a:xfrm rot="5400000">
              <a:off x="8424720" y="1893240"/>
              <a:ext cx="42840" cy="474480"/>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rgbClr val="00CADA"/>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rot="-5400000">
              <a:off x="8917560" y="1905480"/>
              <a:ext cx="74880" cy="827280"/>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rgbClr val="69639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3" name="Google Shape;13;p1"/>
          <p:cNvGrpSpPr/>
          <p:nvPr/>
        </p:nvGrpSpPr>
        <p:grpSpPr>
          <a:xfrm>
            <a:off x="6272280" y="3419820"/>
            <a:ext cx="3872880" cy="2550780"/>
            <a:chOff x="6272280" y="3419820"/>
            <a:chExt cx="3872880" cy="2550780"/>
          </a:xfrm>
        </p:grpSpPr>
        <p:cxnSp>
          <p:nvCxnSpPr>
            <p:cNvPr id="14" name="Google Shape;14;p1"/>
            <p:cNvCxnSpPr/>
            <p:nvPr/>
          </p:nvCxnSpPr>
          <p:spPr>
            <a:xfrm flipH="1">
              <a:off x="6272280" y="5970240"/>
              <a:ext cx="3872880" cy="360"/>
            </a:xfrm>
            <a:prstGeom prst="straightConnector1">
              <a:avLst/>
            </a:prstGeom>
            <a:noFill/>
            <a:ln cap="flat" cmpd="sng" w="9525">
              <a:solidFill>
                <a:srgbClr val="69639C"/>
              </a:solidFill>
              <a:prstDash val="solid"/>
              <a:round/>
              <a:headEnd len="sm" w="sm" type="none"/>
              <a:tailEnd len="sm" w="sm" type="none"/>
            </a:ln>
          </p:spPr>
        </p:cxnSp>
        <p:cxnSp>
          <p:nvCxnSpPr>
            <p:cNvPr id="15" name="Google Shape;15;p1"/>
            <p:cNvCxnSpPr/>
            <p:nvPr/>
          </p:nvCxnSpPr>
          <p:spPr>
            <a:xfrm flipH="1" rot="10800000">
              <a:off x="8208360" y="3582360"/>
              <a:ext cx="464760" cy="450720"/>
            </a:xfrm>
            <a:prstGeom prst="straightConnector1">
              <a:avLst/>
            </a:prstGeom>
            <a:noFill/>
            <a:ln cap="flat" cmpd="sng" w="9525">
              <a:solidFill>
                <a:srgbClr val="69639C"/>
              </a:solidFill>
              <a:prstDash val="solid"/>
              <a:round/>
              <a:headEnd len="sm" w="sm" type="none"/>
              <a:tailEnd len="sm" w="sm" type="none"/>
            </a:ln>
          </p:spPr>
        </p:cxnSp>
        <p:sp>
          <p:nvSpPr>
            <p:cNvPr id="16" name="Google Shape;16;p1"/>
            <p:cNvSpPr/>
            <p:nvPr/>
          </p:nvSpPr>
          <p:spPr>
            <a:xfrm flipH="1" rot="5400000">
              <a:off x="8641440" y="3420720"/>
              <a:ext cx="192960" cy="19116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rgbClr val="69639C"/>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7" name="Google Shape;17;p1"/>
          <p:cNvGrpSpPr/>
          <p:nvPr/>
        </p:nvGrpSpPr>
        <p:grpSpPr>
          <a:xfrm>
            <a:off x="8456760" y="1205280"/>
            <a:ext cx="356760" cy="493200"/>
            <a:chOff x="8456760" y="1205280"/>
            <a:chExt cx="356760" cy="493200"/>
          </a:xfrm>
        </p:grpSpPr>
        <p:sp>
          <p:nvSpPr>
            <p:cNvPr id="18" name="Google Shape;18;p1"/>
            <p:cNvSpPr/>
            <p:nvPr/>
          </p:nvSpPr>
          <p:spPr>
            <a:xfrm rot="5400000">
              <a:off x="8541000" y="1279800"/>
              <a:ext cx="347040" cy="198000"/>
            </a:xfrm>
            <a:custGeom>
              <a:rect b="b" l="l" r="r" t="t"/>
              <a:pathLst>
                <a:path extrusionOk="0" fill="none" h="2777" w="4864">
                  <a:moveTo>
                    <a:pt x="4863" y="2776"/>
                  </a:moveTo>
                  <a:lnTo>
                    <a:pt x="2051" y="0"/>
                  </a:lnTo>
                  <a:lnTo>
                    <a:pt x="0" y="0"/>
                  </a:lnTo>
                </a:path>
              </a:pathLst>
            </a:custGeom>
            <a:solidFill>
              <a:schemeClr val="lt2"/>
            </a:solidFill>
            <a:ln cap="rnd" cmpd="sng" w="9525">
              <a:solidFill>
                <a:srgbClr val="69639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rot="5400000">
              <a:off x="8455680" y="1522800"/>
              <a:ext cx="176760" cy="17460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rgbClr val="69639C"/>
              </a:solidFill>
              <a:prstDash val="solid"/>
              <a:miter lim="8000"/>
              <a:headEnd len="sm" w="sm" type="none"/>
              <a:tailEnd len="sm" w="sm" type="none"/>
            </a:ln>
          </p:spPr>
          <p:txBody>
            <a:bodyPr anchorCtr="0" anchor="ctr" bIns="87475" lIns="91425" spcFirstLastPara="1" rIns="91425" wrap="square" tIns="8747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0" name="Google Shape;20;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3"/>
          <p:cNvSpPr/>
          <p:nvPr/>
        </p:nvSpPr>
        <p:spPr>
          <a:xfrm>
            <a:off x="585000" y="2045880"/>
            <a:ext cx="7408440" cy="17222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Lato"/>
                <a:ea typeface="Lato"/>
                <a:cs typeface="Lato"/>
                <a:sym typeface="Lato"/>
              </a:rPr>
              <a:t>IT Ticket Analysis</a:t>
            </a:r>
            <a:endParaRPr b="0" i="0" sz="2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None/>
            </a:pPr>
            <a:r>
              <a:t/>
            </a:r>
            <a:endParaRPr b="0" i="0" sz="2400" u="none" cap="none" strike="noStrike">
              <a:solidFill>
                <a:srgbClr val="FFFFFF"/>
              </a:solidFill>
              <a:latin typeface="Arial"/>
              <a:ea typeface="Arial"/>
              <a:cs typeface="Arial"/>
              <a:sym typeface="Arial"/>
            </a:endParaRPr>
          </a:p>
          <a:p>
            <a:pPr indent="457200" lvl="0" marL="457200" marR="0" rtl="0" algn="l">
              <a:lnSpc>
                <a:spcPct val="100000"/>
              </a:lnSpc>
              <a:spcBef>
                <a:spcPts val="1001"/>
              </a:spcBef>
              <a:spcAft>
                <a:spcPts val="0"/>
              </a:spcAft>
              <a:buNone/>
            </a:pPr>
            <a:r>
              <a:rPr b="0" i="1" lang="en-US" sz="1400" u="none" cap="none" strike="noStrike">
                <a:solidFill>
                  <a:schemeClr val="dk1"/>
                </a:solidFill>
                <a:latin typeface="Lato"/>
                <a:ea typeface="Lato"/>
                <a:cs typeface="Lato"/>
                <a:sym typeface="Lato"/>
              </a:rPr>
              <a:t>- By Jemish Mangukiya </a:t>
            </a:r>
            <a:endParaRPr b="0" i="0" sz="1400" u="none" cap="none" strike="noStrike">
              <a:solidFill>
                <a:srgbClr val="FFFFFF"/>
              </a:solidFill>
              <a:latin typeface="Arial"/>
              <a:ea typeface="Arial"/>
              <a:cs typeface="Arial"/>
              <a:sym typeface="Arial"/>
            </a:endParaRPr>
          </a:p>
          <a:p>
            <a:pPr indent="457200" lvl="0" marL="457200" marR="0" rtl="0" algn="l">
              <a:lnSpc>
                <a:spcPct val="100000"/>
              </a:lnSpc>
              <a:spcBef>
                <a:spcPts val="1001"/>
              </a:spcBef>
              <a:spcAft>
                <a:spcPts val="0"/>
              </a:spcAft>
              <a:buNone/>
            </a:pPr>
            <a:r>
              <a:rPr b="0" i="1" lang="en-US" sz="1400" u="none" cap="none" strike="noStrike">
                <a:solidFill>
                  <a:schemeClr val="dk1"/>
                </a:solidFill>
                <a:latin typeface="Lato"/>
                <a:ea typeface="Lato"/>
                <a:cs typeface="Lato"/>
                <a:sym typeface="Lato"/>
              </a:rPr>
              <a:t>  </a:t>
            </a:r>
            <a:r>
              <a:rPr i="1" lang="en-US">
                <a:solidFill>
                  <a:schemeClr val="dk1"/>
                </a:solidFill>
                <a:latin typeface="Lato"/>
                <a:ea typeface="Lato"/>
                <a:cs typeface="Lato"/>
                <a:sym typeface="Lato"/>
              </a:rPr>
              <a:t>22</a:t>
            </a:r>
            <a:r>
              <a:rPr baseline="30000" i="1" lang="en-US">
                <a:solidFill>
                  <a:schemeClr val="dk1"/>
                </a:solidFill>
                <a:latin typeface="Lato"/>
                <a:ea typeface="Lato"/>
                <a:cs typeface="Lato"/>
                <a:sym typeface="Lato"/>
              </a:rPr>
              <a:t>nd</a:t>
            </a:r>
            <a:r>
              <a:rPr b="0" i="1" lang="en-US" sz="1400" u="none" cap="none" strike="noStrike">
                <a:solidFill>
                  <a:schemeClr val="dk1"/>
                </a:solidFill>
                <a:latin typeface="Lato"/>
                <a:ea typeface="Lato"/>
                <a:cs typeface="Lato"/>
                <a:sym typeface="Lato"/>
              </a:rPr>
              <a:t> May, 2026</a:t>
            </a:r>
            <a:endParaRPr b="0" i="0" sz="1400" u="none" cap="none" strike="noStrike">
              <a:solidFill>
                <a:srgbClr val="FFFFFF"/>
              </a:solidFill>
              <a:latin typeface="Arial"/>
              <a:ea typeface="Arial"/>
              <a:cs typeface="Arial"/>
              <a:sym typeface="Arial"/>
            </a:endParaRPr>
          </a:p>
        </p:txBody>
      </p:sp>
      <p:pic>
        <p:nvPicPr>
          <p:cNvPr descr="IT Support Helpdesk Image." id="29" name="Google Shape;29;p3"/>
          <p:cNvPicPr preferRelativeResize="0"/>
          <p:nvPr/>
        </p:nvPicPr>
        <p:blipFill rotWithShape="1">
          <a:blip r:embed="rId3">
            <a:alphaModFix/>
          </a:blip>
          <a:srcRect b="7271" l="9689" r="-9689" t="22677"/>
          <a:stretch/>
        </p:blipFill>
        <p:spPr>
          <a:xfrm>
            <a:off x="3876120" y="749520"/>
            <a:ext cx="4333320" cy="3035160"/>
          </a:xfrm>
          <a:prstGeom prst="rect">
            <a:avLst/>
          </a:prstGeom>
          <a:noFill/>
          <a:ln>
            <a:noFill/>
          </a:ln>
          <a:effectLst>
            <a:reflection blurRad="0" dir="0" dist="0" endA="0" endPos="30000" fadeDir="5400012" kx="0" rotWithShape="0" algn="bl" stA="15000" stPos="0" sy="-100000" ky="0"/>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4"/>
          <p:cNvSpPr/>
          <p:nvPr/>
        </p:nvSpPr>
        <p:spPr>
          <a:xfrm>
            <a:off x="526680" y="677160"/>
            <a:ext cx="5023440" cy="45396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i="0" lang="en-US" sz="2300" u="none" cap="none" strike="noStrike">
                <a:solidFill>
                  <a:srgbClr val="F2F2F2"/>
                </a:solidFill>
                <a:latin typeface="Times New Roman"/>
                <a:ea typeface="Times New Roman"/>
                <a:cs typeface="Times New Roman"/>
                <a:sym typeface="Times New Roman"/>
              </a:rPr>
              <a:t>What is IT Tickets? </a:t>
            </a:r>
            <a:endParaRPr b="0" i="0" sz="2300" u="none" cap="none" strike="noStrike">
              <a:solidFill>
                <a:srgbClr val="FFFFFF"/>
              </a:solidFill>
              <a:latin typeface="Arial"/>
              <a:ea typeface="Arial"/>
              <a:cs typeface="Arial"/>
              <a:sym typeface="Arial"/>
            </a:endParaRPr>
          </a:p>
        </p:txBody>
      </p:sp>
      <p:sp>
        <p:nvSpPr>
          <p:cNvPr id="35" name="Google Shape;35;p4"/>
          <p:cNvSpPr/>
          <p:nvPr/>
        </p:nvSpPr>
        <p:spPr>
          <a:xfrm>
            <a:off x="529200" y="1280520"/>
            <a:ext cx="4571640" cy="68616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1300" u="none" cap="none" strike="noStrike">
                <a:solidFill>
                  <a:srgbClr val="F2F2F2"/>
                </a:solidFill>
                <a:latin typeface="Times New Roman"/>
                <a:ea typeface="Times New Roman"/>
                <a:cs typeface="Times New Roman"/>
                <a:sym typeface="Times New Roman"/>
              </a:rPr>
              <a:t>An IT Ticket is a record or a document which is issued by an IT support system to track the request made for issues related to technology or services.</a:t>
            </a:r>
            <a:endParaRPr b="0" i="0" sz="1300" u="none" cap="none" strike="noStrike">
              <a:solidFill>
                <a:srgbClr val="FFFFFF"/>
              </a:solidFill>
              <a:latin typeface="Arial"/>
              <a:ea typeface="Arial"/>
              <a:cs typeface="Arial"/>
              <a:sym typeface="Arial"/>
            </a:endParaRPr>
          </a:p>
        </p:txBody>
      </p:sp>
      <p:pic>
        <p:nvPicPr>
          <p:cNvPr descr="A blue and black icon with a wrench and a piece of paper&#10;&#10;AI-generated content may be incorrect." id="36" name="Google Shape;36;p4"/>
          <p:cNvPicPr preferRelativeResize="0"/>
          <p:nvPr/>
        </p:nvPicPr>
        <p:blipFill rotWithShape="1">
          <a:blip r:embed="rId3">
            <a:alphaModFix/>
          </a:blip>
          <a:srcRect b="0" l="0" r="0" t="0"/>
          <a:stretch/>
        </p:blipFill>
        <p:spPr>
          <a:xfrm>
            <a:off x="5704560" y="518760"/>
            <a:ext cx="1544760" cy="1523520"/>
          </a:xfrm>
          <a:prstGeom prst="rect">
            <a:avLst/>
          </a:prstGeom>
          <a:noFill/>
          <a:ln>
            <a:noFill/>
          </a:ln>
        </p:spPr>
      </p:pic>
      <p:sp>
        <p:nvSpPr>
          <p:cNvPr id="37" name="Google Shape;37;p4"/>
          <p:cNvSpPr/>
          <p:nvPr/>
        </p:nvSpPr>
        <p:spPr>
          <a:xfrm>
            <a:off x="526680" y="3132360"/>
            <a:ext cx="3256200" cy="45396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i="0" lang="en-US" sz="2300" u="none" cap="none" strike="noStrike">
                <a:solidFill>
                  <a:srgbClr val="F2F2F2"/>
                </a:solidFill>
                <a:latin typeface="Times New Roman"/>
                <a:ea typeface="Times New Roman"/>
                <a:cs typeface="Times New Roman"/>
                <a:sym typeface="Times New Roman"/>
              </a:rPr>
              <a:t>How IT Ticket Support Cycle Works ?</a:t>
            </a:r>
            <a:endParaRPr b="0" i="0" sz="2300" u="none" cap="none" strike="noStrike">
              <a:solidFill>
                <a:srgbClr val="FFFFFF"/>
              </a:solidFill>
              <a:latin typeface="Arial"/>
              <a:ea typeface="Arial"/>
              <a:cs typeface="Arial"/>
              <a:sym typeface="Arial"/>
            </a:endParaRPr>
          </a:p>
        </p:txBody>
      </p:sp>
      <p:sp>
        <p:nvSpPr>
          <p:cNvPr id="38" name="Google Shape;38;p4"/>
          <p:cNvSpPr/>
          <p:nvPr/>
        </p:nvSpPr>
        <p:spPr>
          <a:xfrm>
            <a:off x="529200" y="1280520"/>
            <a:ext cx="4571640" cy="68616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1300" u="none" cap="none" strike="noStrike">
                <a:solidFill>
                  <a:srgbClr val="F2F2F2"/>
                </a:solidFill>
                <a:latin typeface="Times New Roman"/>
                <a:ea typeface="Times New Roman"/>
                <a:cs typeface="Times New Roman"/>
                <a:sym typeface="Times New Roman"/>
              </a:rPr>
              <a:t>An IT Ticket is a record or a document which is issued by an IT support system to track the request made for issues related to technology or services.</a:t>
            </a:r>
            <a:endParaRPr b="0" i="0" sz="1300" u="none" cap="none" strike="noStrike">
              <a:solidFill>
                <a:srgbClr val="FFFFFF"/>
              </a:solidFill>
              <a:latin typeface="Arial"/>
              <a:ea typeface="Arial"/>
              <a:cs typeface="Arial"/>
              <a:sym typeface="Arial"/>
            </a:endParaRPr>
          </a:p>
        </p:txBody>
      </p:sp>
      <p:pic>
        <p:nvPicPr>
          <p:cNvPr descr="A diagram of a customer support system&#10;&#10;AI-generated content may be incorrect." id="39" name="Google Shape;39;p4"/>
          <p:cNvPicPr preferRelativeResize="0"/>
          <p:nvPr/>
        </p:nvPicPr>
        <p:blipFill rotWithShape="1">
          <a:blip r:embed="rId4">
            <a:alphaModFix/>
          </a:blip>
          <a:srcRect b="0" l="0" r="0" t="0"/>
          <a:stretch/>
        </p:blipFill>
        <p:spPr>
          <a:xfrm>
            <a:off x="3857760" y="2190600"/>
            <a:ext cx="4307040" cy="2793600"/>
          </a:xfrm>
          <a:prstGeom prst="rect">
            <a:avLst/>
          </a:prstGeom>
          <a:noFill/>
          <a:ln cap="sq" cmpd="sng" w="88900">
            <a:solidFill>
              <a:srgbClr val="FFFFFF"/>
            </a:solidFill>
            <a:prstDash val="solid"/>
            <a:miter lim="8000"/>
            <a:headEnd len="sm" w="sm" type="none"/>
            <a:tailEnd len="sm" w="sm" type="none"/>
          </a:ln>
          <a:effectLst>
            <a:outerShdw blurRad="55080" rotWithShape="0" algn="tl" dir="5400000" dist="18000">
              <a:srgbClr val="000000">
                <a:alpha val="4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id="44" name="Google Shape;44;p5"/>
          <p:cNvPicPr preferRelativeResize="0"/>
          <p:nvPr/>
        </p:nvPicPr>
        <p:blipFill rotWithShape="1">
          <a:blip r:embed="rId3">
            <a:alphaModFix/>
          </a:blip>
          <a:srcRect b="0" l="0" r="0" t="0"/>
          <a:stretch/>
        </p:blipFill>
        <p:spPr>
          <a:xfrm>
            <a:off x="640080" y="2190240"/>
            <a:ext cx="7863120" cy="2563200"/>
          </a:xfrm>
          <a:prstGeom prst="rect">
            <a:avLst/>
          </a:prstGeom>
          <a:noFill/>
          <a:ln>
            <a:noFill/>
          </a:ln>
        </p:spPr>
      </p:pic>
      <p:sp>
        <p:nvSpPr>
          <p:cNvPr id="45" name="Google Shape;45;p5"/>
          <p:cNvSpPr/>
          <p:nvPr/>
        </p:nvSpPr>
        <p:spPr>
          <a:xfrm>
            <a:off x="644400" y="152280"/>
            <a:ext cx="7736400" cy="230184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None/>
            </a:pPr>
            <a:r>
              <a:rPr b="1" i="0" lang="en-US" sz="1800" u="none" cap="none" strike="noStrike">
                <a:solidFill>
                  <a:schemeClr val="accent6"/>
                </a:solidFill>
                <a:latin typeface="Times New Roman"/>
                <a:ea typeface="Times New Roman"/>
                <a:cs typeface="Times New Roman"/>
                <a:sym typeface="Times New Roman"/>
              </a:rPr>
              <a:t>Problem Statement</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US" sz="1400" u="none" cap="none" strike="noStrike">
                <a:solidFill>
                  <a:schemeClr val="accent6"/>
                </a:solidFill>
                <a:latin typeface="Times New Roman"/>
                <a:ea typeface="Times New Roman"/>
                <a:cs typeface="Times New Roman"/>
                <a:sym typeface="Times New Roman"/>
              </a:rPr>
              <a:t>The objective is to analyse the IT support ticket management system to understand the performance of IT agents, the efficiency of ticket resolution, and the satisfaction levels of employees. The analysis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b="0" i="0" sz="14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br>
              <a:rPr b="0" i="0" lang="en-US" sz="1400" u="none" cap="none" strike="noStrike">
                <a:latin typeface="Arial"/>
                <a:ea typeface="Arial"/>
                <a:cs typeface="Arial"/>
                <a:sym typeface="Arial"/>
              </a:rPr>
            </a:b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6"/>
          <p:cNvSpPr/>
          <p:nvPr/>
        </p:nvSpPr>
        <p:spPr>
          <a:xfrm>
            <a:off x="751680" y="129240"/>
            <a:ext cx="4062600" cy="1829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3000" u="none" cap="none" strike="noStrike">
                <a:solidFill>
                  <a:schemeClr val="accent6"/>
                </a:solidFill>
                <a:latin typeface="Times New Roman"/>
                <a:ea typeface="Times New Roman"/>
                <a:cs typeface="Times New Roman"/>
                <a:sym typeface="Times New Roman"/>
              </a:rPr>
              <a:t>Data Highlights</a:t>
            </a:r>
            <a:endParaRPr b="0" i="0" sz="3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latin typeface="Arial"/>
                <a:ea typeface="Arial"/>
                <a:cs typeface="Arial"/>
                <a:sym typeface="Arial"/>
              </a:rPr>
            </a:br>
            <a:r>
              <a:rPr b="1" i="0" lang="en-US" sz="1400" u="none" cap="none" strike="noStrike">
                <a:solidFill>
                  <a:schemeClr val="accent6"/>
                </a:solidFill>
                <a:latin typeface="Times New Roman"/>
                <a:ea typeface="Times New Roman"/>
                <a:cs typeface="Times New Roman"/>
                <a:sym typeface="Times New Roman"/>
              </a:rPr>
              <a:t>Tickets Data Sheet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accent6"/>
                </a:solidFill>
                <a:latin typeface="Times New Roman"/>
                <a:ea typeface="Times New Roman"/>
                <a:cs typeface="Times New Roman"/>
                <a:sym typeface="Times New Roman"/>
              </a:rPr>
              <a:t>Total Tickets: 97498</a:t>
            </a:r>
            <a:endParaRPr b="0" i="0" sz="1400" u="none" cap="none" strike="noStrike">
              <a:solidFill>
                <a:srgbClr val="FFFFFF"/>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accent6"/>
                </a:solidFill>
                <a:latin typeface="Times New Roman"/>
                <a:ea typeface="Times New Roman"/>
                <a:cs typeface="Times New Roman"/>
                <a:sym typeface="Times New Roman"/>
              </a:rPr>
              <a:t>No. of Attributes: 10</a:t>
            </a:r>
            <a:endParaRPr b="0" i="0" sz="1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descr="A screenshot of a data&#10;&#10;AI-generated content may be incorrect." id="51" name="Google Shape;51;p6"/>
          <p:cNvPicPr preferRelativeResize="0"/>
          <p:nvPr/>
        </p:nvPicPr>
        <p:blipFill rotWithShape="1">
          <a:blip r:embed="rId3">
            <a:alphaModFix/>
          </a:blip>
          <a:srcRect b="0" l="0" r="0" t="0"/>
          <a:stretch/>
        </p:blipFill>
        <p:spPr>
          <a:xfrm>
            <a:off x="4813200" y="1966680"/>
            <a:ext cx="4175640" cy="2619000"/>
          </a:xfrm>
          <a:prstGeom prst="rect">
            <a:avLst/>
          </a:prstGeom>
          <a:noFill/>
          <a:ln>
            <a:noFill/>
          </a:ln>
        </p:spPr>
      </p:pic>
      <p:sp>
        <p:nvSpPr>
          <p:cNvPr id="52" name="Google Shape;52;p6"/>
          <p:cNvSpPr/>
          <p:nvPr/>
        </p:nvSpPr>
        <p:spPr>
          <a:xfrm>
            <a:off x="5261040" y="129240"/>
            <a:ext cx="4062600" cy="15854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latin typeface="Arial"/>
                <a:ea typeface="Arial"/>
                <a:cs typeface="Arial"/>
                <a:sym typeface="Arial"/>
              </a:rPr>
            </a:br>
            <a:r>
              <a:rPr b="1" i="0" lang="en-US" sz="1400" u="none" cap="none" strike="noStrike">
                <a:solidFill>
                  <a:schemeClr val="accent6"/>
                </a:solidFill>
                <a:latin typeface="Times New Roman"/>
                <a:ea typeface="Times New Roman"/>
                <a:cs typeface="Times New Roman"/>
                <a:sym typeface="Times New Roman"/>
              </a:rPr>
              <a:t>IT Agents Data Sheet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accent6"/>
                </a:solidFill>
                <a:latin typeface="Times New Roman"/>
                <a:ea typeface="Times New Roman"/>
                <a:cs typeface="Times New Roman"/>
                <a:sym typeface="Times New Roman"/>
              </a:rPr>
              <a:t>Total Agents: 50</a:t>
            </a:r>
            <a:endParaRPr b="0" i="0" sz="1400" u="none" cap="none" strike="noStrike">
              <a:solidFill>
                <a:srgbClr val="FFFFFF"/>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accent6"/>
                </a:solidFill>
                <a:latin typeface="Times New Roman"/>
                <a:ea typeface="Times New Roman"/>
                <a:cs typeface="Times New Roman"/>
                <a:sym typeface="Times New Roman"/>
              </a:rPr>
              <a:t>No. of Attributes: 6</a:t>
            </a:r>
            <a:endParaRPr b="0" i="0" sz="1400" u="none" cap="none" strike="noStrike">
              <a:solidFill>
                <a:srgbClr val="FFFFFF"/>
              </a:solidFill>
              <a:latin typeface="Arial"/>
              <a:ea typeface="Arial"/>
              <a:cs typeface="Arial"/>
              <a:sym typeface="Arial"/>
            </a:endParaRPr>
          </a:p>
        </p:txBody>
      </p:sp>
      <p:pic>
        <p:nvPicPr>
          <p:cNvPr id="53" name="Google Shape;53;p6"/>
          <p:cNvPicPr preferRelativeResize="0"/>
          <p:nvPr/>
        </p:nvPicPr>
        <p:blipFill>
          <a:blip r:embed="rId4">
            <a:alphaModFix/>
          </a:blip>
          <a:stretch>
            <a:fillRect/>
          </a:stretch>
        </p:blipFill>
        <p:spPr>
          <a:xfrm>
            <a:off x="71475" y="1966675"/>
            <a:ext cx="4687901" cy="261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
                                        </p:tgtEl>
                                        <p:attrNameLst>
                                          <p:attrName>style.visibility</p:attrName>
                                        </p:attrNameLst>
                                      </p:cBhvr>
                                      <p:to>
                                        <p:strVal val="visible"/>
                                      </p:to>
                                    </p:set>
                                  </p:childTnLst>
                                </p:cTn>
                              </p:par>
                              <p:par>
                                <p:cTn fill="hold" nodeType="withEffect" presetClass="entr" presetID="2" presetSubtype="1">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1000"/>
                                        <p:tgtEl>
                                          <p:spTgt spid="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7"/>
          <p:cNvSpPr/>
          <p:nvPr/>
        </p:nvSpPr>
        <p:spPr>
          <a:xfrm>
            <a:off x="338400" y="533520"/>
            <a:ext cx="8466480" cy="39996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 name="Google Shape;59;p7"/>
          <p:cNvSpPr/>
          <p:nvPr/>
        </p:nvSpPr>
        <p:spPr>
          <a:xfrm>
            <a:off x="338760" y="380880"/>
            <a:ext cx="4571640" cy="548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3000" u="none" cap="none" strike="noStrike">
                <a:solidFill>
                  <a:srgbClr val="FFFFFF"/>
                </a:solidFill>
                <a:latin typeface="Times New Roman"/>
                <a:ea typeface="Times New Roman"/>
                <a:cs typeface="Times New Roman"/>
                <a:sym typeface="Times New Roman"/>
              </a:rPr>
              <a:t>Data Cleaning</a:t>
            </a:r>
            <a:endParaRPr b="0" i="0" sz="3000" u="none" cap="none" strike="noStrike">
              <a:solidFill>
                <a:srgbClr val="FFFFFF"/>
              </a:solidFill>
              <a:latin typeface="Arial"/>
              <a:ea typeface="Arial"/>
              <a:cs typeface="Arial"/>
              <a:sym typeface="Arial"/>
            </a:endParaRPr>
          </a:p>
        </p:txBody>
      </p:sp>
      <p:graphicFrame>
        <p:nvGraphicFramePr>
          <p:cNvPr id="60" name="Google Shape;60;p7"/>
          <p:cNvGraphicFramePr/>
          <p:nvPr/>
        </p:nvGraphicFramePr>
        <p:xfrm>
          <a:off x="467640" y="1289880"/>
          <a:ext cx="3000000" cy="3000000"/>
        </p:xfrm>
        <a:graphic>
          <a:graphicData uri="http://schemas.openxmlformats.org/drawingml/2006/table">
            <a:tbl>
              <a:tblPr>
                <a:noFill/>
                <a:tableStyleId>{0942A115-B895-4D74-B2F6-B3FDDC81DE4F}</a:tableStyleId>
              </a:tblPr>
              <a:tblGrid>
                <a:gridCol w="2264750"/>
                <a:gridCol w="4210200"/>
              </a:tblGrid>
              <a:tr h="370800">
                <a:tc>
                  <a:txBody>
                    <a:bodyPr/>
                    <a:lstStyle/>
                    <a:p>
                      <a:pPr indent="0" lvl="0" marL="0" marR="0" rtl="0" algn="l">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Missing Values</a:t>
                      </a:r>
                      <a:endParaRPr b="0" sz="14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c>
                  <a:txBody>
                    <a:bodyPr/>
                    <a:lstStyle/>
                    <a:p>
                      <a:pPr indent="0" lvl="0" marL="0" marR="0" rtl="0" algn="l">
                        <a:lnSpc>
                          <a:spcPct val="100000"/>
                        </a:lnSpc>
                        <a:spcBef>
                          <a:spcPts val="0"/>
                        </a:spcBef>
                        <a:spcAft>
                          <a:spcPts val="0"/>
                        </a:spcAft>
                        <a:buNone/>
                      </a:pPr>
                      <a:r>
                        <a:rPr b="0" lang="en-US" sz="1200" u="none" cap="none" strike="noStrike">
                          <a:solidFill>
                            <a:schemeClr val="dk2"/>
                          </a:solidFill>
                          <a:latin typeface="Arial"/>
                          <a:ea typeface="Arial"/>
                          <a:cs typeface="Arial"/>
                          <a:sym typeface="Arial"/>
                        </a:rPr>
                        <a:t>Agent Name – Filled using VLOOKUP using IT Agents Sheet.</a:t>
                      </a:r>
                      <a:endParaRPr b="0" sz="12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r>
              <a:tr h="370800">
                <a:tc>
                  <a:txBody>
                    <a:bodyPr/>
                    <a:lstStyle/>
                    <a:p>
                      <a:pPr indent="0" lvl="0" marL="0" marR="0" rtl="0" algn="l">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Duplicate Records</a:t>
                      </a:r>
                      <a:endParaRPr b="0" sz="14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c>
                  <a:txBody>
                    <a:bodyPr/>
                    <a:lstStyle/>
                    <a:p>
                      <a:pPr indent="0" lvl="0" marL="0" marR="0" rtl="0" algn="l">
                        <a:lnSpc>
                          <a:spcPct val="100000"/>
                        </a:lnSpc>
                        <a:spcBef>
                          <a:spcPts val="0"/>
                        </a:spcBef>
                        <a:spcAft>
                          <a:spcPts val="0"/>
                        </a:spcAft>
                        <a:buNone/>
                      </a:pPr>
                      <a:r>
                        <a:rPr b="0" lang="en-US" sz="1200" u="none" cap="none" strike="noStrike">
                          <a:solidFill>
                            <a:schemeClr val="dk2"/>
                          </a:solidFill>
                          <a:latin typeface="Arial"/>
                          <a:ea typeface="Arial"/>
                          <a:cs typeface="Arial"/>
                          <a:sym typeface="Arial"/>
                        </a:rPr>
                        <a:t>All records are unique.</a:t>
                      </a:r>
                      <a:endParaRPr b="0" sz="12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r>
              <a:tr h="370800">
                <a:tc>
                  <a:txBody>
                    <a:bodyPr/>
                    <a:lstStyle/>
                    <a:p>
                      <a:pPr indent="0" lvl="0" marL="0" marR="0" rtl="0" algn="l">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Spelling Errors</a:t>
                      </a:r>
                      <a:endParaRPr b="0" sz="14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c>
                  <a:txBody>
                    <a:bodyPr/>
                    <a:lstStyle/>
                    <a:p>
                      <a:pPr indent="0" lvl="0" marL="0" marR="0" rtl="0" algn="l">
                        <a:lnSpc>
                          <a:spcPct val="100000"/>
                        </a:lnSpc>
                        <a:spcBef>
                          <a:spcPts val="0"/>
                        </a:spcBef>
                        <a:spcAft>
                          <a:spcPts val="0"/>
                        </a:spcAft>
                        <a:buNone/>
                      </a:pPr>
                      <a:r>
                        <a:rPr b="0" lang="en-US" sz="1200" u="none" cap="none" strike="noStrike">
                          <a:solidFill>
                            <a:schemeClr val="dk2"/>
                          </a:solidFill>
                          <a:latin typeface="Arial"/>
                          <a:ea typeface="Arial"/>
                          <a:cs typeface="Arial"/>
                          <a:sym typeface="Arial"/>
                        </a:rPr>
                        <a:t>Unassiged                                           Unassigned</a:t>
                      </a:r>
                      <a:endParaRPr b="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1200" u="none" cap="none" strike="noStrike">
                          <a:solidFill>
                            <a:schemeClr val="dk2"/>
                          </a:solidFill>
                          <a:latin typeface="Arial"/>
                          <a:ea typeface="Arial"/>
                          <a:cs typeface="Arial"/>
                          <a:sym typeface="Arial"/>
                        </a:rPr>
                        <a:t>Unclasified                                           Unclassified</a:t>
                      </a:r>
                      <a:endParaRPr b="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1200" u="none" cap="none" strike="noStrike">
                          <a:solidFill>
                            <a:schemeClr val="dk2"/>
                          </a:solidFill>
                          <a:latin typeface="Arial"/>
                          <a:ea typeface="Arial"/>
                          <a:cs typeface="Arial"/>
                          <a:sym typeface="Arial"/>
                        </a:rPr>
                        <a:t>Mayor                                                   Major</a:t>
                      </a:r>
                      <a:endParaRPr b="0" sz="12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r>
              <a:tr h="370800">
                <a:tc>
                  <a:txBody>
                    <a:bodyPr/>
                    <a:lstStyle/>
                    <a:p>
                      <a:pPr indent="0" lvl="0" marL="0" marR="0" rtl="0" algn="l">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Severity</a:t>
                      </a:r>
                      <a:endParaRPr b="0" sz="14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c>
                  <a:txBody>
                    <a:bodyPr/>
                    <a:lstStyle/>
                    <a:p>
                      <a:pPr indent="0" lvl="0" marL="0" marR="0" rtl="0" algn="l">
                        <a:lnSpc>
                          <a:spcPct val="100000"/>
                        </a:lnSpc>
                        <a:spcBef>
                          <a:spcPts val="0"/>
                        </a:spcBef>
                        <a:spcAft>
                          <a:spcPts val="0"/>
                        </a:spcAft>
                        <a:buNone/>
                      </a:pPr>
                      <a:r>
                        <a:rPr b="0" lang="en-US" sz="1200" u="none" cap="none" strike="noStrike">
                          <a:solidFill>
                            <a:schemeClr val="dk2"/>
                          </a:solidFill>
                          <a:latin typeface="Arial"/>
                          <a:ea typeface="Arial"/>
                          <a:cs typeface="Arial"/>
                          <a:sym typeface="Arial"/>
                        </a:rPr>
                        <a:t>Numeric conversion for scattering analysis.</a:t>
                      </a:r>
                      <a:endParaRPr b="0" sz="1200" u="none" cap="none" strike="noStrike">
                        <a:solidFill>
                          <a:srgbClr val="000000"/>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r>
              <a:tr h="370800">
                <a:tc>
                  <a:txBody>
                    <a:bodyPr/>
                    <a:lstStyle/>
                    <a:p>
                      <a:pPr indent="0" lvl="0" marL="0" marR="0" rtl="0" algn="l">
                        <a:lnSpc>
                          <a:spcPct val="100000"/>
                        </a:lnSpc>
                        <a:spcBef>
                          <a:spcPts val="0"/>
                        </a:spcBef>
                        <a:spcAft>
                          <a:spcPts val="0"/>
                        </a:spcAft>
                        <a:buNone/>
                      </a:pPr>
                      <a:r>
                        <a:rPr b="1" lang="en-US">
                          <a:solidFill>
                            <a:schemeClr val="dk2"/>
                          </a:solidFill>
                        </a:rPr>
                        <a:t>Attributes Added</a:t>
                      </a:r>
                      <a:endParaRPr b="1" sz="1400" u="none" cap="none" strike="noStrike">
                        <a:solidFill>
                          <a:schemeClr val="dk2"/>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c>
                  <a:txBody>
                    <a:bodyPr/>
                    <a:lstStyle/>
                    <a:p>
                      <a:pPr indent="0" lvl="0" marL="0" marR="0" rtl="0" algn="l">
                        <a:lnSpc>
                          <a:spcPct val="100000"/>
                        </a:lnSpc>
                        <a:spcBef>
                          <a:spcPts val="0"/>
                        </a:spcBef>
                        <a:spcAft>
                          <a:spcPts val="0"/>
                        </a:spcAft>
                        <a:buNone/>
                      </a:pPr>
                      <a:r>
                        <a:rPr lang="en-US" sz="1200">
                          <a:solidFill>
                            <a:schemeClr val="dk2"/>
                          </a:solidFill>
                        </a:rPr>
                        <a:t>Age, Age Group, Year, Month-Year</a:t>
                      </a:r>
                      <a:endParaRPr b="0" sz="1200" u="none" cap="none" strike="noStrike">
                        <a:solidFill>
                          <a:schemeClr val="dk2"/>
                        </a:solidFill>
                        <a:latin typeface="Arial"/>
                        <a:ea typeface="Arial"/>
                        <a:cs typeface="Arial"/>
                        <a:sym typeface="Arial"/>
                      </a:endParaRPr>
                    </a:p>
                  </a:txBody>
                  <a:tcPr marT="45725" marB="45725" marR="137150" marL="137150" anchor="ctr">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6"/>
                    </a:solidFill>
                  </a:tcPr>
                </a:tc>
              </a:tr>
            </a:tbl>
          </a:graphicData>
        </a:graphic>
      </p:graphicFrame>
      <p:sp>
        <p:nvSpPr>
          <p:cNvPr id="61" name="Google Shape;61;p7"/>
          <p:cNvSpPr/>
          <p:nvPr/>
        </p:nvSpPr>
        <p:spPr>
          <a:xfrm>
            <a:off x="4082933" y="2352225"/>
            <a:ext cx="978000" cy="209100"/>
          </a:xfrm>
          <a:prstGeom prst="rightArrow">
            <a:avLst>
              <a:gd fmla="val 50000" name="adj1"/>
              <a:gd fmla="val 50000" name="adj2"/>
            </a:avLst>
          </a:prstGeom>
          <a:solidFill>
            <a:srgbClr val="69639C"/>
          </a:solidFill>
          <a:ln cap="flat" cmpd="sng" w="25400">
            <a:solidFill>
              <a:srgbClr val="2E2B4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hand holding a brush next to a yellow circular object&#10;&#10;AI-generated content may be incorrect." id="62" name="Google Shape;62;p7"/>
          <p:cNvPicPr preferRelativeResize="0"/>
          <p:nvPr/>
        </p:nvPicPr>
        <p:blipFill rotWithShape="1">
          <a:blip r:embed="rId3">
            <a:alphaModFix/>
          </a:blip>
          <a:srcRect b="28030" l="0" r="0" t="-28030"/>
          <a:stretch/>
        </p:blipFill>
        <p:spPr>
          <a:xfrm>
            <a:off x="7107651" y="2496976"/>
            <a:ext cx="2496149" cy="2535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8"/>
          <p:cNvSpPr/>
          <p:nvPr/>
        </p:nvSpPr>
        <p:spPr>
          <a:xfrm>
            <a:off x="545400" y="241560"/>
            <a:ext cx="525420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Key Performance Indicators</a:t>
            </a:r>
            <a:endParaRPr b="0" i="0" sz="3000" u="none" cap="none" strike="noStrike">
              <a:solidFill>
                <a:srgbClr val="FFFFFF"/>
              </a:solidFill>
              <a:latin typeface="Arial"/>
              <a:ea typeface="Arial"/>
              <a:cs typeface="Arial"/>
              <a:sym typeface="Arial"/>
            </a:endParaRPr>
          </a:p>
        </p:txBody>
      </p:sp>
      <p:sp>
        <p:nvSpPr>
          <p:cNvPr id="68" name="Google Shape;68;p8"/>
          <p:cNvSpPr/>
          <p:nvPr/>
        </p:nvSpPr>
        <p:spPr>
          <a:xfrm>
            <a:off x="548280" y="1156680"/>
            <a:ext cx="1909080" cy="384840"/>
          </a:xfrm>
          <a:prstGeom prst="roundRect">
            <a:avLst>
              <a:gd fmla="val 16667" name="adj"/>
            </a:avLst>
          </a:prstGeom>
          <a:solidFill>
            <a:srgbClr val="002060"/>
          </a:solidFill>
          <a:ln cap="flat" cmpd="sng" w="25400">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i="0" lang="en-US" sz="2000" u="none" cap="none" strike="noStrike">
                <a:solidFill>
                  <a:schemeClr val="accent6"/>
                </a:solidFill>
                <a:latin typeface="Times New Roman"/>
                <a:ea typeface="Times New Roman"/>
                <a:cs typeface="Times New Roman"/>
                <a:sym typeface="Times New Roman"/>
              </a:rPr>
              <a:t>    97498</a:t>
            </a:r>
            <a:endParaRPr b="0" i="0" sz="2000" u="none" cap="none" strike="noStrike">
              <a:solidFill>
                <a:srgbClr val="FFFFFF"/>
              </a:solidFill>
              <a:latin typeface="Arial"/>
              <a:ea typeface="Arial"/>
              <a:cs typeface="Arial"/>
              <a:sym typeface="Arial"/>
            </a:endParaRPr>
          </a:p>
        </p:txBody>
      </p:sp>
      <p:sp>
        <p:nvSpPr>
          <p:cNvPr id="69" name="Google Shape;69;p8"/>
          <p:cNvSpPr/>
          <p:nvPr/>
        </p:nvSpPr>
        <p:spPr>
          <a:xfrm>
            <a:off x="548280" y="1915560"/>
            <a:ext cx="1909080" cy="463680"/>
          </a:xfrm>
          <a:prstGeom prst="roundRect">
            <a:avLst>
              <a:gd fmla="val 16667" name="adj"/>
            </a:avLst>
          </a:prstGeom>
          <a:solidFill>
            <a:srgbClr val="002060"/>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accent6"/>
                </a:solidFill>
                <a:latin typeface="Times New Roman"/>
                <a:ea typeface="Times New Roman"/>
                <a:cs typeface="Times New Roman"/>
                <a:sym typeface="Times New Roman"/>
              </a:rPr>
              <a:t>50</a:t>
            </a:r>
            <a:endParaRPr b="0" i="0" sz="2000" u="none" cap="none" strike="noStrike">
              <a:solidFill>
                <a:srgbClr val="FFFFFF"/>
              </a:solidFill>
              <a:latin typeface="Arial"/>
              <a:ea typeface="Arial"/>
              <a:cs typeface="Arial"/>
              <a:sym typeface="Arial"/>
            </a:endParaRPr>
          </a:p>
        </p:txBody>
      </p:sp>
      <p:sp>
        <p:nvSpPr>
          <p:cNvPr id="70" name="Google Shape;70;p8"/>
          <p:cNvSpPr/>
          <p:nvPr/>
        </p:nvSpPr>
        <p:spPr>
          <a:xfrm>
            <a:off x="548280" y="2595240"/>
            <a:ext cx="1909080" cy="562320"/>
          </a:xfrm>
          <a:prstGeom prst="roundRect">
            <a:avLst>
              <a:gd fmla="val 16667" name="adj"/>
            </a:avLst>
          </a:prstGeom>
          <a:solidFill>
            <a:srgbClr val="002060"/>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rgbClr val="FFC000"/>
                </a:solidFill>
                <a:latin typeface="Times New Roman"/>
                <a:ea typeface="Times New Roman"/>
                <a:cs typeface="Times New Roman"/>
                <a:sym typeface="Times New Roman"/>
              </a:rPr>
              <a:t>        ~ 4.6 Days</a:t>
            </a:r>
            <a:endParaRPr b="0" i="0" sz="2000" u="none" cap="none" strike="noStrike">
              <a:solidFill>
                <a:srgbClr val="FFFFFF"/>
              </a:solidFill>
              <a:latin typeface="Arial"/>
              <a:ea typeface="Arial"/>
              <a:cs typeface="Arial"/>
              <a:sym typeface="Arial"/>
            </a:endParaRPr>
          </a:p>
        </p:txBody>
      </p:sp>
      <p:sp>
        <p:nvSpPr>
          <p:cNvPr id="71" name="Google Shape;71;p8"/>
          <p:cNvSpPr/>
          <p:nvPr/>
        </p:nvSpPr>
        <p:spPr>
          <a:xfrm>
            <a:off x="548280" y="3442680"/>
            <a:ext cx="1909080" cy="552600"/>
          </a:xfrm>
          <a:prstGeom prst="roundRect">
            <a:avLst>
              <a:gd fmla="val 16667" name="adj"/>
            </a:avLst>
          </a:prstGeom>
          <a:solidFill>
            <a:srgbClr val="002060"/>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rgbClr val="92D050"/>
                </a:solidFill>
                <a:latin typeface="Times New Roman"/>
                <a:ea typeface="Times New Roman"/>
                <a:cs typeface="Times New Roman"/>
                <a:sym typeface="Times New Roman"/>
              </a:rPr>
              <a:t>     ~ 4.1</a:t>
            </a:r>
            <a:r>
              <a:rPr b="1" i="0" lang="en-US" sz="2000" u="none" cap="none" strike="noStrike">
                <a:solidFill>
                  <a:schemeClr val="accent6"/>
                </a:solidFill>
                <a:latin typeface="Times New Roman"/>
                <a:ea typeface="Times New Roman"/>
                <a:cs typeface="Times New Roman"/>
                <a:sym typeface="Times New Roman"/>
              </a:rPr>
              <a:t> / 5</a:t>
            </a:r>
            <a:endParaRPr b="0" i="0" sz="2000" u="none" cap="none" strike="noStrike">
              <a:solidFill>
                <a:srgbClr val="FFFFFF"/>
              </a:solidFill>
              <a:latin typeface="Arial"/>
              <a:ea typeface="Arial"/>
              <a:cs typeface="Arial"/>
              <a:sym typeface="Arial"/>
            </a:endParaRPr>
          </a:p>
        </p:txBody>
      </p:sp>
      <p:sp>
        <p:nvSpPr>
          <p:cNvPr id="72" name="Google Shape;72;p8"/>
          <p:cNvSpPr/>
          <p:nvPr/>
        </p:nvSpPr>
        <p:spPr>
          <a:xfrm>
            <a:off x="3309120" y="1198080"/>
            <a:ext cx="4743000" cy="30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400" u="none" cap="none" strike="noStrike">
                <a:solidFill>
                  <a:schemeClr val="dk1"/>
                </a:solidFill>
                <a:latin typeface="Times New Roman"/>
                <a:ea typeface="Times New Roman"/>
                <a:cs typeface="Times New Roman"/>
                <a:sym typeface="Times New Roman"/>
              </a:rPr>
              <a:t>Number of tickets logged during 2016 - 2020</a:t>
            </a:r>
            <a:endParaRPr i="0" sz="1400" u="none" cap="none" strike="noStrike">
              <a:solidFill>
                <a:srgbClr val="FFFFFF"/>
              </a:solidFill>
              <a:latin typeface="Times New Roman"/>
              <a:ea typeface="Times New Roman"/>
              <a:cs typeface="Times New Roman"/>
              <a:sym typeface="Times New Roman"/>
            </a:endParaRPr>
          </a:p>
        </p:txBody>
      </p:sp>
      <p:sp>
        <p:nvSpPr>
          <p:cNvPr id="73" name="Google Shape;73;p8"/>
          <p:cNvSpPr/>
          <p:nvPr/>
        </p:nvSpPr>
        <p:spPr>
          <a:xfrm>
            <a:off x="3309120" y="1996200"/>
            <a:ext cx="4743000" cy="30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400" u="none" cap="none" strike="noStrike">
                <a:solidFill>
                  <a:schemeClr val="dk1"/>
                </a:solidFill>
                <a:latin typeface="Times New Roman"/>
                <a:ea typeface="Times New Roman"/>
                <a:cs typeface="Times New Roman"/>
                <a:sym typeface="Times New Roman"/>
              </a:rPr>
              <a:t>Number of Agent </a:t>
            </a:r>
            <a:endParaRPr i="0" sz="1400" u="none" cap="none" strike="noStrike">
              <a:solidFill>
                <a:srgbClr val="FFFFFF"/>
              </a:solidFill>
              <a:latin typeface="Times New Roman"/>
              <a:ea typeface="Times New Roman"/>
              <a:cs typeface="Times New Roman"/>
              <a:sym typeface="Times New Roman"/>
            </a:endParaRPr>
          </a:p>
        </p:txBody>
      </p:sp>
      <p:sp>
        <p:nvSpPr>
          <p:cNvPr id="74" name="Google Shape;74;p8"/>
          <p:cNvSpPr/>
          <p:nvPr/>
        </p:nvSpPr>
        <p:spPr>
          <a:xfrm>
            <a:off x="3309120" y="2725560"/>
            <a:ext cx="4743000" cy="30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400" u="none" cap="none" strike="noStrike">
                <a:solidFill>
                  <a:schemeClr val="dk1"/>
                </a:solidFill>
                <a:latin typeface="Times New Roman"/>
                <a:ea typeface="Times New Roman"/>
                <a:cs typeface="Times New Roman"/>
                <a:sym typeface="Times New Roman"/>
              </a:rPr>
              <a:t>Average Resolution Time</a:t>
            </a:r>
            <a:endParaRPr i="0" sz="1400" u="none" cap="none" strike="noStrike">
              <a:solidFill>
                <a:srgbClr val="FFFFFF"/>
              </a:solidFill>
              <a:latin typeface="Times New Roman"/>
              <a:ea typeface="Times New Roman"/>
              <a:cs typeface="Times New Roman"/>
              <a:sym typeface="Times New Roman"/>
            </a:endParaRPr>
          </a:p>
        </p:txBody>
      </p:sp>
      <p:sp>
        <p:nvSpPr>
          <p:cNvPr id="75" name="Google Shape;75;p8"/>
          <p:cNvSpPr/>
          <p:nvPr/>
        </p:nvSpPr>
        <p:spPr>
          <a:xfrm>
            <a:off x="3309120" y="3562920"/>
            <a:ext cx="4743000" cy="30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400" u="none" cap="none" strike="noStrike">
                <a:solidFill>
                  <a:schemeClr val="dk1"/>
                </a:solidFill>
                <a:latin typeface="Times New Roman"/>
                <a:ea typeface="Times New Roman"/>
                <a:cs typeface="Times New Roman"/>
                <a:sym typeface="Times New Roman"/>
              </a:rPr>
              <a:t>Average Satisfaction Rate</a:t>
            </a:r>
            <a:endParaRPr i="0" sz="1400" u="none" cap="none" strike="noStrike">
              <a:solidFill>
                <a:srgbClr val="FFFFFF"/>
              </a:solidFill>
              <a:latin typeface="Times New Roman"/>
              <a:ea typeface="Times New Roman"/>
              <a:cs typeface="Times New Roman"/>
              <a:sym typeface="Times New Roman"/>
            </a:endParaRPr>
          </a:p>
        </p:txBody>
      </p:sp>
      <p:pic>
        <p:nvPicPr>
          <p:cNvPr descr="A blue and yellow piece of paper with a wrench&#10;&#10;AI-generated content may be incorrect." id="76" name="Google Shape;76;p8"/>
          <p:cNvPicPr preferRelativeResize="0"/>
          <p:nvPr/>
        </p:nvPicPr>
        <p:blipFill rotWithShape="1">
          <a:blip r:embed="rId3">
            <a:alphaModFix/>
          </a:blip>
          <a:srcRect b="0" l="0" r="0" t="0"/>
          <a:stretch/>
        </p:blipFill>
        <p:spPr>
          <a:xfrm>
            <a:off x="673200" y="1205280"/>
            <a:ext cx="377280" cy="318240"/>
          </a:xfrm>
          <a:prstGeom prst="rect">
            <a:avLst/>
          </a:prstGeom>
          <a:noFill/>
          <a:ln>
            <a:noFill/>
          </a:ln>
        </p:spPr>
      </p:pic>
      <p:pic>
        <p:nvPicPr>
          <p:cNvPr descr="A person wearing a headset&#10;&#10;AI-generated content may be incorrect." id="77" name="Google Shape;77;p8"/>
          <p:cNvPicPr preferRelativeResize="0"/>
          <p:nvPr/>
        </p:nvPicPr>
        <p:blipFill rotWithShape="1">
          <a:blip r:embed="rId4">
            <a:alphaModFix/>
          </a:blip>
          <a:srcRect b="0" l="0" r="0" t="0"/>
          <a:stretch/>
        </p:blipFill>
        <p:spPr>
          <a:xfrm>
            <a:off x="672480" y="1992960"/>
            <a:ext cx="379080" cy="300240"/>
          </a:xfrm>
          <a:prstGeom prst="rect">
            <a:avLst/>
          </a:prstGeom>
          <a:noFill/>
          <a:ln>
            <a:noFill/>
          </a:ln>
        </p:spPr>
      </p:pic>
      <p:pic>
        <p:nvPicPr>
          <p:cNvPr descr="A black and white line art of a ticket&#10;&#10;AI-generated content may be incorrect." id="78" name="Google Shape;78;p8"/>
          <p:cNvPicPr preferRelativeResize="0"/>
          <p:nvPr/>
        </p:nvPicPr>
        <p:blipFill rotWithShape="1">
          <a:blip r:embed="rId5">
            <a:alphaModFix/>
          </a:blip>
          <a:srcRect b="0" l="0" r="0" t="0"/>
          <a:stretch/>
        </p:blipFill>
        <p:spPr>
          <a:xfrm>
            <a:off x="672480" y="2672640"/>
            <a:ext cx="379080" cy="398880"/>
          </a:xfrm>
          <a:prstGeom prst="rect">
            <a:avLst/>
          </a:prstGeom>
          <a:noFill/>
          <a:ln>
            <a:noFill/>
          </a:ln>
        </p:spPr>
      </p:pic>
      <p:pic>
        <p:nvPicPr>
          <p:cNvPr descr="A green check mark and five stars" id="79" name="Google Shape;79;p8"/>
          <p:cNvPicPr preferRelativeResize="0"/>
          <p:nvPr/>
        </p:nvPicPr>
        <p:blipFill rotWithShape="1">
          <a:blip r:embed="rId6">
            <a:alphaModFix/>
          </a:blip>
          <a:srcRect b="0" l="0" r="0" t="0"/>
          <a:stretch/>
        </p:blipFill>
        <p:spPr>
          <a:xfrm>
            <a:off x="709560" y="3557160"/>
            <a:ext cx="304920" cy="324720"/>
          </a:xfrm>
          <a:prstGeom prst="rect">
            <a:avLst/>
          </a:prstGeom>
          <a:noFill/>
          <a:ln>
            <a:noFill/>
          </a:ln>
        </p:spPr>
      </p:pic>
      <p:sp>
        <p:nvSpPr>
          <p:cNvPr id="80" name="Google Shape;80;p8"/>
          <p:cNvSpPr/>
          <p:nvPr/>
        </p:nvSpPr>
        <p:spPr>
          <a:xfrm>
            <a:off x="548280" y="4299840"/>
            <a:ext cx="1909080" cy="552600"/>
          </a:xfrm>
          <a:prstGeom prst="roundRect">
            <a:avLst>
              <a:gd fmla="val 16667" name="adj"/>
            </a:avLst>
          </a:prstGeom>
          <a:solidFill>
            <a:srgbClr val="002060"/>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     ~ 53</a:t>
            </a:r>
            <a:endParaRPr b="0" i="0" sz="2000" u="none" cap="none" strike="noStrike">
              <a:solidFill>
                <a:srgbClr val="FFFFFF"/>
              </a:solidFill>
              <a:latin typeface="Arial"/>
              <a:ea typeface="Arial"/>
              <a:cs typeface="Arial"/>
              <a:sym typeface="Arial"/>
            </a:endParaRPr>
          </a:p>
        </p:txBody>
      </p:sp>
      <p:sp>
        <p:nvSpPr>
          <p:cNvPr id="81" name="Google Shape;81;p8"/>
          <p:cNvSpPr/>
          <p:nvPr/>
        </p:nvSpPr>
        <p:spPr>
          <a:xfrm>
            <a:off x="3319200" y="4420080"/>
            <a:ext cx="4743000" cy="3045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400" u="none" cap="none" strike="noStrike">
                <a:solidFill>
                  <a:schemeClr val="dk1"/>
                </a:solidFill>
                <a:latin typeface="Times New Roman"/>
                <a:ea typeface="Times New Roman"/>
                <a:cs typeface="Times New Roman"/>
                <a:sym typeface="Times New Roman"/>
              </a:rPr>
              <a:t>Average Daily Ticket Volume</a:t>
            </a:r>
            <a:endParaRPr i="0" sz="1400" u="none" cap="none" strike="noStrike">
              <a:solidFill>
                <a:srgbClr val="FFFFFF"/>
              </a:solidFill>
              <a:latin typeface="Times New Roman"/>
              <a:ea typeface="Times New Roman"/>
              <a:cs typeface="Times New Roman"/>
              <a:sym typeface="Times New Roman"/>
            </a:endParaRPr>
          </a:p>
        </p:txBody>
      </p:sp>
      <p:pic>
        <p:nvPicPr>
          <p:cNvPr descr="A hand holding up colorful bars&#10;&#10;AI-generated content may be incorrect." id="82" name="Google Shape;82;p8"/>
          <p:cNvPicPr preferRelativeResize="0"/>
          <p:nvPr/>
        </p:nvPicPr>
        <p:blipFill rotWithShape="1">
          <a:blip r:embed="rId7">
            <a:alphaModFix/>
          </a:blip>
          <a:srcRect b="0" l="0" r="0" t="0"/>
          <a:stretch/>
        </p:blipFill>
        <p:spPr>
          <a:xfrm>
            <a:off x="616320" y="4360320"/>
            <a:ext cx="491760" cy="4424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9"/>
          <p:cNvSpPr/>
          <p:nvPr/>
        </p:nvSpPr>
        <p:spPr>
          <a:xfrm>
            <a:off x="1944720" y="231480"/>
            <a:ext cx="525420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TICKET VOLUME TREND</a:t>
            </a:r>
            <a:endParaRPr b="0" i="0" sz="3000" u="none" cap="none" strike="noStrike">
              <a:solidFill>
                <a:srgbClr val="FFFFFF"/>
              </a:solidFill>
              <a:latin typeface="Arial"/>
              <a:ea typeface="Arial"/>
              <a:cs typeface="Arial"/>
              <a:sym typeface="Arial"/>
            </a:endParaRPr>
          </a:p>
        </p:txBody>
      </p:sp>
      <p:sp>
        <p:nvSpPr>
          <p:cNvPr id="88" name="Google Shape;88;p9"/>
          <p:cNvSpPr/>
          <p:nvPr/>
        </p:nvSpPr>
        <p:spPr>
          <a:xfrm>
            <a:off x="185125" y="1967550"/>
            <a:ext cx="3914100" cy="1208400"/>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Ticket volume increased significantly</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Peak operational periods observed later in the year</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Indicates growing support demand</a:t>
            </a:r>
            <a:endParaRPr b="0" i="0" sz="1600" u="none" cap="none" strike="noStrike">
              <a:solidFill>
                <a:schemeClr val="dk1"/>
              </a:solidFill>
              <a:latin typeface="Arial"/>
              <a:ea typeface="Arial"/>
              <a:cs typeface="Arial"/>
              <a:sym typeface="Arial"/>
            </a:endParaRPr>
          </a:p>
        </p:txBody>
      </p:sp>
      <p:pic>
        <p:nvPicPr>
          <p:cNvPr id="89" name="Google Shape;89;p9" title="Chart"/>
          <p:cNvPicPr preferRelativeResize="0"/>
          <p:nvPr/>
        </p:nvPicPr>
        <p:blipFill>
          <a:blip r:embed="rId3">
            <a:alphaModFix/>
          </a:blip>
          <a:stretch>
            <a:fillRect/>
          </a:stretch>
        </p:blipFill>
        <p:spPr>
          <a:xfrm>
            <a:off x="4262425" y="1142475"/>
            <a:ext cx="4729176" cy="27586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0"/>
          <p:cNvSpPr/>
          <p:nvPr/>
        </p:nvSpPr>
        <p:spPr>
          <a:xfrm>
            <a:off x="545400" y="241550"/>
            <a:ext cx="8053500" cy="6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chemeClr val="dk1"/>
                </a:solidFill>
                <a:latin typeface="Times New Roman"/>
                <a:ea typeface="Times New Roman"/>
                <a:cs typeface="Times New Roman"/>
                <a:sym typeface="Times New Roman"/>
              </a:rPr>
              <a:t>Request </a:t>
            </a:r>
            <a:r>
              <a:rPr b="1" i="0" lang="en-US" sz="3000" u="none" cap="none" strike="noStrike">
                <a:solidFill>
                  <a:schemeClr val="dk1"/>
                </a:solidFill>
                <a:latin typeface="Times New Roman"/>
                <a:ea typeface="Times New Roman"/>
                <a:cs typeface="Times New Roman"/>
                <a:sym typeface="Times New Roman"/>
              </a:rPr>
              <a:t>Category Performance Analysis</a:t>
            </a:r>
            <a:endParaRPr b="0" i="0" sz="3000" u="none" cap="none" strike="noStrike">
              <a:solidFill>
                <a:srgbClr val="FFFFFF"/>
              </a:solidFill>
              <a:latin typeface="Arial"/>
              <a:ea typeface="Arial"/>
              <a:cs typeface="Arial"/>
              <a:sym typeface="Arial"/>
            </a:endParaRPr>
          </a:p>
        </p:txBody>
      </p:sp>
      <p:graphicFrame>
        <p:nvGraphicFramePr>
          <p:cNvPr id="95" name="Google Shape;95;p10"/>
          <p:cNvGraphicFramePr/>
          <p:nvPr/>
        </p:nvGraphicFramePr>
        <p:xfrm>
          <a:off x="4629750" y="1241353"/>
          <a:ext cx="3000000" cy="3000000"/>
        </p:xfrm>
        <a:graphic>
          <a:graphicData uri="http://schemas.openxmlformats.org/drawingml/2006/table">
            <a:tbl>
              <a:tblPr>
                <a:noFill/>
                <a:tableStyleId>{0942A115-B895-4D74-B2F6-B3FDDC81DE4F}</a:tableStyleId>
              </a:tblPr>
              <a:tblGrid>
                <a:gridCol w="1478525"/>
                <a:gridCol w="2490700"/>
              </a:tblGrid>
              <a:tr h="670800">
                <a:tc>
                  <a:txBody>
                    <a:bodyPr/>
                    <a:lstStyle/>
                    <a:p>
                      <a:pPr indent="0" lvl="0" marL="0" marR="0" rtl="0" algn="ctr">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Category</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Avg. Resolution Time (Days)</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2"/>
                    </a:solidFill>
                  </a:tcPr>
                </a:tc>
              </a:tr>
              <a:tr h="513850">
                <a:tc>
                  <a:txBody>
                    <a:bodyPr/>
                    <a:lstStyle/>
                    <a:p>
                      <a:pPr indent="0" lvl="0" marL="0" marR="0" rtl="0" algn="l">
                        <a:lnSpc>
                          <a:spcPct val="100000"/>
                        </a:lnSpc>
                        <a:spcBef>
                          <a:spcPts val="0"/>
                        </a:spcBef>
                        <a:spcAft>
                          <a:spcPts val="0"/>
                        </a:spcAft>
                        <a:buNone/>
                      </a:pPr>
                      <a:r>
                        <a:rPr b="0" lang="en-US" sz="1400" u="none" cap="none" strike="noStrike">
                          <a:solidFill>
                            <a:schemeClr val="lt2"/>
                          </a:solidFill>
                          <a:latin typeface="Arial"/>
                          <a:ea typeface="Arial"/>
                          <a:cs typeface="Arial"/>
                          <a:sym typeface="Arial"/>
                        </a:rPr>
                        <a:t>Hardware</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c>
                  <a:txBody>
                    <a:bodyPr/>
                    <a:lstStyle/>
                    <a:p>
                      <a:pPr indent="0" lvl="0" marL="0" marR="0" rtl="0" algn="r">
                        <a:lnSpc>
                          <a:spcPct val="100000"/>
                        </a:lnSpc>
                        <a:spcBef>
                          <a:spcPts val="0"/>
                        </a:spcBef>
                        <a:spcAft>
                          <a:spcPts val="0"/>
                        </a:spcAft>
                        <a:buNone/>
                      </a:pPr>
                      <a:r>
                        <a:rPr b="1" lang="en-US" sz="1800" u="none" cap="none" strike="noStrike">
                          <a:solidFill>
                            <a:srgbClr val="C00000"/>
                          </a:solidFill>
                          <a:latin typeface="Calibri"/>
                          <a:ea typeface="Calibri"/>
                          <a:cs typeface="Calibri"/>
                          <a:sym typeface="Calibri"/>
                        </a:rPr>
                        <a:t>7.6</a:t>
                      </a:r>
                      <a:endParaRPr b="0" sz="18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r>
              <a:tr h="430675">
                <a:tc>
                  <a:txBody>
                    <a:bodyPr/>
                    <a:lstStyle/>
                    <a:p>
                      <a:pPr indent="0" lvl="0" marL="0" marR="0" rtl="0" algn="l">
                        <a:lnSpc>
                          <a:spcPct val="100000"/>
                        </a:lnSpc>
                        <a:spcBef>
                          <a:spcPts val="0"/>
                        </a:spcBef>
                        <a:spcAft>
                          <a:spcPts val="0"/>
                        </a:spcAft>
                        <a:buNone/>
                      </a:pPr>
                      <a:r>
                        <a:rPr b="0" lang="en-US" sz="1400" u="none" cap="none" strike="noStrike">
                          <a:solidFill>
                            <a:schemeClr val="dk2"/>
                          </a:solidFill>
                          <a:latin typeface="Arial"/>
                          <a:ea typeface="Arial"/>
                          <a:cs typeface="Arial"/>
                          <a:sym typeface="Arial"/>
                        </a:rPr>
                        <a:t>System</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F2F2F2"/>
                    </a:solidFill>
                  </a:tcPr>
                </a:tc>
                <a:tc>
                  <a:txBody>
                    <a:bodyPr/>
                    <a:lstStyle/>
                    <a:p>
                      <a:pPr indent="0" lvl="0" marL="0" marR="0" rtl="0" algn="r">
                        <a:lnSpc>
                          <a:spcPct val="100000"/>
                        </a:lnSpc>
                        <a:spcBef>
                          <a:spcPts val="0"/>
                        </a:spcBef>
                        <a:spcAft>
                          <a:spcPts val="0"/>
                        </a:spcAft>
                        <a:buNone/>
                      </a:pPr>
                      <a:r>
                        <a:rPr b="1" lang="en-US" sz="1400" u="none" cap="none" strike="noStrike">
                          <a:solidFill>
                            <a:srgbClr val="BD3808"/>
                          </a:solidFill>
                          <a:latin typeface="Arial"/>
                          <a:ea typeface="Arial"/>
                          <a:cs typeface="Arial"/>
                          <a:sym typeface="Arial"/>
                        </a:rPr>
                        <a:t>6.6</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F2F2F2"/>
                    </a:solidFill>
                  </a:tcPr>
                </a:tc>
              </a:tr>
              <a:tr h="430675">
                <a:tc>
                  <a:txBody>
                    <a:bodyPr/>
                    <a:lstStyle/>
                    <a:p>
                      <a:pPr indent="0" lvl="0" marL="0" marR="0" rtl="0" algn="l">
                        <a:lnSpc>
                          <a:spcPct val="100000"/>
                        </a:lnSpc>
                        <a:spcBef>
                          <a:spcPts val="0"/>
                        </a:spcBef>
                        <a:spcAft>
                          <a:spcPts val="0"/>
                        </a:spcAft>
                        <a:buNone/>
                      </a:pPr>
                      <a:r>
                        <a:rPr b="0" lang="en-US" sz="1400" u="none" cap="none" strike="noStrike">
                          <a:solidFill>
                            <a:schemeClr val="dk2"/>
                          </a:solidFill>
                          <a:latin typeface="Arial"/>
                          <a:ea typeface="Arial"/>
                          <a:cs typeface="Arial"/>
                          <a:sym typeface="Arial"/>
                        </a:rPr>
                        <a:t>Software</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c>
                  <a:txBody>
                    <a:bodyPr/>
                    <a:lstStyle/>
                    <a:p>
                      <a:pPr indent="0" lvl="0" marL="0" marR="0" rtl="0" algn="r">
                        <a:lnSpc>
                          <a:spcPct val="100000"/>
                        </a:lnSpc>
                        <a:spcBef>
                          <a:spcPts val="0"/>
                        </a:spcBef>
                        <a:spcAft>
                          <a:spcPts val="0"/>
                        </a:spcAft>
                        <a:buNone/>
                      </a:pPr>
                      <a:r>
                        <a:rPr b="0" lang="en-US" sz="1400" u="none" cap="none" strike="noStrike">
                          <a:solidFill>
                            <a:schemeClr val="dk2"/>
                          </a:solidFill>
                          <a:latin typeface="Arial"/>
                          <a:ea typeface="Arial"/>
                          <a:cs typeface="Arial"/>
                          <a:sym typeface="Arial"/>
                        </a:rPr>
                        <a:t>5.2</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r>
              <a:tr h="430675">
                <a:tc>
                  <a:txBody>
                    <a:bodyPr/>
                    <a:lstStyle/>
                    <a:p>
                      <a:pPr indent="0" lvl="0" marL="0" marR="0" rtl="0" algn="l">
                        <a:lnSpc>
                          <a:spcPct val="100000"/>
                        </a:lnSpc>
                        <a:spcBef>
                          <a:spcPts val="0"/>
                        </a:spcBef>
                        <a:spcAft>
                          <a:spcPts val="0"/>
                        </a:spcAft>
                        <a:buNone/>
                      </a:pPr>
                      <a:r>
                        <a:rPr b="0" lang="en-US" sz="1400" u="none" cap="none" strike="noStrike">
                          <a:solidFill>
                            <a:schemeClr val="dk2"/>
                          </a:solidFill>
                          <a:latin typeface="Arial"/>
                          <a:ea typeface="Arial"/>
                          <a:cs typeface="Arial"/>
                          <a:sym typeface="Arial"/>
                        </a:rPr>
                        <a:t>Login Access</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F2F2F2"/>
                    </a:solidFill>
                  </a:tcPr>
                </a:tc>
                <a:tc>
                  <a:txBody>
                    <a:bodyPr/>
                    <a:lstStyle/>
                    <a:p>
                      <a:pPr indent="0" lvl="0" marL="0" marR="0" rtl="0" algn="r">
                        <a:lnSpc>
                          <a:spcPct val="100000"/>
                        </a:lnSpc>
                        <a:spcBef>
                          <a:spcPts val="0"/>
                        </a:spcBef>
                        <a:spcAft>
                          <a:spcPts val="0"/>
                        </a:spcAft>
                        <a:buNone/>
                      </a:pPr>
                      <a:r>
                        <a:rPr b="0" lang="en-US" sz="1400" u="none" cap="none" strike="noStrike">
                          <a:solidFill>
                            <a:srgbClr val="0099A5"/>
                          </a:solidFill>
                          <a:latin typeface="Arial"/>
                          <a:ea typeface="Arial"/>
                          <a:cs typeface="Arial"/>
                          <a:sym typeface="Arial"/>
                        </a:rPr>
                        <a:t>0.3</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F2F2F2"/>
                    </a:solidFill>
                  </a:tcPr>
                </a:tc>
              </a:tr>
            </a:tbl>
          </a:graphicData>
        </a:graphic>
      </p:graphicFrame>
      <p:sp>
        <p:nvSpPr>
          <p:cNvPr id="96" name="Google Shape;96;p10"/>
          <p:cNvSpPr/>
          <p:nvPr/>
        </p:nvSpPr>
        <p:spPr>
          <a:xfrm>
            <a:off x="1116720" y="3934080"/>
            <a:ext cx="6900840" cy="396000"/>
          </a:xfrm>
          <a:prstGeom prst="rect">
            <a:avLst/>
          </a:prstGeom>
          <a:noFill/>
          <a:ln>
            <a:noFill/>
          </a:ln>
        </p:spPr>
        <p:txBody>
          <a:bodyPr anchorCtr="0" anchor="t" bIns="45700" lIns="91425" spcFirstLastPara="1" rIns="91425" wrap="square" tIns="45700">
            <a:noAutofit/>
          </a:bodyPr>
          <a:lstStyle/>
          <a:p>
            <a:pPr indent="-260440" lvl="0" marL="28584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Hardware and System categories are operational bottlenecks.</a:t>
            </a:r>
            <a:endParaRPr b="0" i="0" sz="1600" u="none" cap="none" strike="noStrike">
              <a:solidFill>
                <a:schemeClr val="dk1"/>
              </a:solidFill>
              <a:latin typeface="Arial"/>
              <a:ea typeface="Arial"/>
              <a:cs typeface="Arial"/>
              <a:sym typeface="Arial"/>
            </a:endParaRPr>
          </a:p>
        </p:txBody>
      </p:sp>
      <p:pic>
        <p:nvPicPr>
          <p:cNvPr id="97" name="Google Shape;97;p10" title="Chart"/>
          <p:cNvPicPr preferRelativeResize="0"/>
          <p:nvPr/>
        </p:nvPicPr>
        <p:blipFill>
          <a:blip r:embed="rId3">
            <a:alphaModFix/>
          </a:blip>
          <a:stretch>
            <a:fillRect/>
          </a:stretch>
        </p:blipFill>
        <p:spPr>
          <a:xfrm>
            <a:off x="454994" y="1241380"/>
            <a:ext cx="4022399" cy="247663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1"/>
          <p:cNvSpPr/>
          <p:nvPr/>
        </p:nvSpPr>
        <p:spPr>
          <a:xfrm>
            <a:off x="545400" y="241550"/>
            <a:ext cx="6930300" cy="6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rgbClr val="FFFFFF"/>
                </a:solidFill>
                <a:latin typeface="Times New Roman"/>
                <a:ea typeface="Times New Roman"/>
                <a:cs typeface="Times New Roman"/>
                <a:sym typeface="Times New Roman"/>
              </a:rPr>
              <a:t>Resolution Time over Request Category</a:t>
            </a:r>
            <a:endParaRPr b="1" i="0" sz="3000" u="none" cap="none" strike="noStrike">
              <a:solidFill>
                <a:srgbClr val="FFFFFF"/>
              </a:solidFill>
              <a:latin typeface="Times New Roman"/>
              <a:ea typeface="Times New Roman"/>
              <a:cs typeface="Times New Roman"/>
              <a:sym typeface="Times New Roman"/>
            </a:endParaRPr>
          </a:p>
        </p:txBody>
      </p:sp>
      <p:sp>
        <p:nvSpPr>
          <p:cNvPr id="103" name="Google Shape;103;p11"/>
          <p:cNvSpPr/>
          <p:nvPr/>
        </p:nvSpPr>
        <p:spPr>
          <a:xfrm>
            <a:off x="4650350" y="1304350"/>
            <a:ext cx="3886200" cy="2535000"/>
          </a:xfrm>
          <a:prstGeom prst="rect">
            <a:avLst/>
          </a:prstGeom>
          <a:noFill/>
          <a:ln>
            <a:noFill/>
          </a:ln>
        </p:spPr>
        <p:txBody>
          <a:bodyPr anchorCtr="0" anchor="t" bIns="45700" lIns="91425" spcFirstLastPara="1" rIns="91425" wrap="square" tIns="45700">
            <a:noAutofit/>
          </a:bodyPr>
          <a:lstStyle/>
          <a:p>
            <a:pPr indent="-260440" lvl="0" marL="285840" marR="0" rtl="0" algn="l">
              <a:lnSpc>
                <a:spcPct val="100000"/>
              </a:lnSpc>
              <a:spcBef>
                <a:spcPts val="0"/>
              </a:spcBef>
              <a:spcAft>
                <a:spcPts val="0"/>
              </a:spcAft>
              <a:buClr>
                <a:schemeClr val="dk1"/>
              </a:buClr>
              <a:buSzPts val="1600"/>
              <a:buFont typeface="Noto Sans Symbols"/>
              <a:buChar char="✔"/>
            </a:pPr>
            <a:r>
              <a:rPr lang="en-US" sz="1600">
                <a:solidFill>
                  <a:schemeClr val="dk1"/>
                </a:solidFill>
                <a:latin typeface="Times New Roman"/>
                <a:ea typeface="Times New Roman"/>
                <a:cs typeface="Times New Roman"/>
                <a:sym typeface="Times New Roman"/>
              </a:rPr>
              <a:t>Hardware and System issues have higher resolution time as </a:t>
            </a:r>
            <a:r>
              <a:rPr lang="en-US" sz="1600">
                <a:solidFill>
                  <a:schemeClr val="dk1"/>
                </a:solidFill>
                <a:latin typeface="Times New Roman"/>
                <a:ea typeface="Times New Roman"/>
                <a:cs typeface="Times New Roman"/>
                <a:sym typeface="Times New Roman"/>
              </a:rPr>
              <a:t>compared</a:t>
            </a:r>
            <a:r>
              <a:rPr lang="en-US" sz="1600">
                <a:solidFill>
                  <a:schemeClr val="dk1"/>
                </a:solidFill>
                <a:latin typeface="Times New Roman"/>
                <a:ea typeface="Times New Roman"/>
                <a:cs typeface="Times New Roman"/>
                <a:sym typeface="Times New Roman"/>
              </a:rPr>
              <a:t> to overall average resolution time.</a:t>
            </a:r>
            <a:endParaRPr sz="1600">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260440" lvl="0" marL="28584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However, the “Login Access” issues are resolved </a:t>
            </a:r>
            <a:r>
              <a:rPr lang="en-US" sz="1600">
                <a:solidFill>
                  <a:schemeClr val="dk1"/>
                </a:solidFill>
                <a:latin typeface="Times New Roman"/>
                <a:ea typeface="Times New Roman"/>
                <a:cs typeface="Times New Roman"/>
                <a:sym typeface="Times New Roman"/>
              </a:rPr>
              <a:t>quickly</a:t>
            </a:r>
            <a:r>
              <a:rPr lang="en-US" sz="1600">
                <a:solidFill>
                  <a:schemeClr val="dk1"/>
                </a:solidFill>
                <a:latin typeface="Times New Roman"/>
                <a:ea typeface="Times New Roman"/>
                <a:cs typeface="Times New Roman"/>
                <a:sym typeface="Times New Roman"/>
              </a:rPr>
              <a:t> almost within same day.</a:t>
            </a:r>
            <a:endParaRPr sz="1600">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260440" lvl="0" marL="285840" marR="0" rtl="0" algn="l">
              <a:lnSpc>
                <a:spcPct val="100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Demonstrates that if system infrastructure improved, the resolution time may be reduced.</a:t>
            </a:r>
            <a:endParaRPr sz="1600">
              <a:solidFill>
                <a:schemeClr val="dk1"/>
              </a:solidFill>
              <a:latin typeface="Times New Roman"/>
              <a:ea typeface="Times New Roman"/>
              <a:cs typeface="Times New Roman"/>
              <a:sym typeface="Times New Roman"/>
            </a:endParaRPr>
          </a:p>
        </p:txBody>
      </p:sp>
      <p:pic>
        <p:nvPicPr>
          <p:cNvPr id="104" name="Google Shape;104;p11" title="Chart"/>
          <p:cNvPicPr preferRelativeResize="0"/>
          <p:nvPr/>
        </p:nvPicPr>
        <p:blipFill>
          <a:blip r:embed="rId3">
            <a:alphaModFix/>
          </a:blip>
          <a:stretch>
            <a:fillRect/>
          </a:stretch>
        </p:blipFill>
        <p:spPr>
          <a:xfrm>
            <a:off x="141600" y="1304300"/>
            <a:ext cx="4345551" cy="25349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2"/>
          <p:cNvSpPr/>
          <p:nvPr/>
        </p:nvSpPr>
        <p:spPr>
          <a:xfrm>
            <a:off x="545400" y="241560"/>
            <a:ext cx="664344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Ticket Distribution Over Issue Type </a:t>
            </a:r>
            <a:endParaRPr b="0" i="0" sz="3000" u="none" cap="none" strike="noStrike">
              <a:solidFill>
                <a:srgbClr val="FFFFFF"/>
              </a:solidFill>
              <a:latin typeface="Arial"/>
              <a:ea typeface="Arial"/>
              <a:cs typeface="Arial"/>
              <a:sym typeface="Arial"/>
            </a:endParaRPr>
          </a:p>
        </p:txBody>
      </p:sp>
      <p:pic>
        <p:nvPicPr>
          <p:cNvPr id="110" name="Google Shape;110;p12" title="Chart"/>
          <p:cNvPicPr preferRelativeResize="0"/>
          <p:nvPr/>
        </p:nvPicPr>
        <p:blipFill>
          <a:blip r:embed="rId3">
            <a:alphaModFix/>
          </a:blip>
          <a:stretch>
            <a:fillRect/>
          </a:stretch>
        </p:blipFill>
        <p:spPr>
          <a:xfrm>
            <a:off x="307675" y="1309913"/>
            <a:ext cx="4326250" cy="2523650"/>
          </a:xfrm>
          <a:prstGeom prst="rect">
            <a:avLst/>
          </a:prstGeom>
          <a:noFill/>
          <a:ln>
            <a:noFill/>
          </a:ln>
        </p:spPr>
      </p:pic>
      <p:sp>
        <p:nvSpPr>
          <p:cNvPr id="111" name="Google Shape;111;p12"/>
          <p:cNvSpPr/>
          <p:nvPr/>
        </p:nvSpPr>
        <p:spPr>
          <a:xfrm>
            <a:off x="4734200" y="1970850"/>
            <a:ext cx="3759000" cy="12018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accent5"/>
              </a:buClr>
              <a:buSzPts val="1600"/>
              <a:buFont typeface="Times New Roman"/>
              <a:buChar char="✔"/>
            </a:pPr>
            <a:r>
              <a:rPr lang="en-US" sz="1600">
                <a:solidFill>
                  <a:schemeClr val="dk1"/>
                </a:solidFill>
                <a:latin typeface="Times New Roman"/>
                <a:ea typeface="Times New Roman"/>
                <a:cs typeface="Times New Roman"/>
                <a:sym typeface="Times New Roman"/>
              </a:rPr>
              <a:t>Almost more than 75% tickets were from IT Request probably consisting of Hardware and Software issues which are major bottlenecks.</a:t>
            </a:r>
            <a:endParaRPr sz="1600">
              <a:solidFill>
                <a:schemeClr val="accent5"/>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3"/>
          <p:cNvSpPr/>
          <p:nvPr/>
        </p:nvSpPr>
        <p:spPr>
          <a:xfrm>
            <a:off x="545400" y="241560"/>
            <a:ext cx="6643500" cy="6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chemeClr val="dk1"/>
                </a:solidFill>
                <a:latin typeface="Times New Roman"/>
                <a:ea typeface="Times New Roman"/>
                <a:cs typeface="Times New Roman"/>
                <a:sym typeface="Times New Roman"/>
              </a:rPr>
              <a:t>Tickets Distribution over Severity</a:t>
            </a:r>
            <a:endParaRPr b="0" i="0" sz="3000" u="none" cap="none" strike="noStrike">
              <a:solidFill>
                <a:srgbClr val="FFFFFF"/>
              </a:solidFill>
              <a:latin typeface="Arial"/>
              <a:ea typeface="Arial"/>
              <a:cs typeface="Arial"/>
              <a:sym typeface="Arial"/>
            </a:endParaRPr>
          </a:p>
        </p:txBody>
      </p:sp>
      <p:sp>
        <p:nvSpPr>
          <p:cNvPr id="117" name="Google Shape;117;p13"/>
          <p:cNvSpPr/>
          <p:nvPr/>
        </p:nvSpPr>
        <p:spPr>
          <a:xfrm>
            <a:off x="4437500" y="1968000"/>
            <a:ext cx="3748500" cy="12075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Ticket distribution based on severity is uneven. Most of the tickets are marked as Normal which has the highest average resolution time. </a:t>
            </a:r>
            <a:endParaRPr sz="1600">
              <a:solidFill>
                <a:schemeClr val="dk1"/>
              </a:solidFill>
              <a:latin typeface="Times New Roman"/>
              <a:ea typeface="Times New Roman"/>
              <a:cs typeface="Times New Roman"/>
              <a:sym typeface="Times New Roman"/>
            </a:endParaRPr>
          </a:p>
        </p:txBody>
      </p:sp>
      <p:pic>
        <p:nvPicPr>
          <p:cNvPr id="118" name="Google Shape;118;p13" title="Chart"/>
          <p:cNvPicPr preferRelativeResize="0"/>
          <p:nvPr/>
        </p:nvPicPr>
        <p:blipFill>
          <a:blip r:embed="rId3">
            <a:alphaModFix/>
          </a:blip>
          <a:stretch>
            <a:fillRect/>
          </a:stretch>
        </p:blipFill>
        <p:spPr>
          <a:xfrm>
            <a:off x="297425" y="1364225"/>
            <a:ext cx="4140075" cy="241503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p:nvPr/>
        </p:nvSpPr>
        <p:spPr>
          <a:xfrm>
            <a:off x="545400" y="241560"/>
            <a:ext cx="664344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chemeClr val="dk1"/>
                </a:solidFill>
                <a:latin typeface="Times New Roman"/>
                <a:ea typeface="Times New Roman"/>
                <a:cs typeface="Times New Roman"/>
                <a:sym typeface="Times New Roman"/>
              </a:rPr>
              <a:t>Performance </a:t>
            </a:r>
            <a:r>
              <a:rPr b="1" lang="en-US" sz="3000">
                <a:solidFill>
                  <a:schemeClr val="dk1"/>
                </a:solidFill>
                <a:latin typeface="Times New Roman"/>
                <a:ea typeface="Times New Roman"/>
                <a:cs typeface="Times New Roman"/>
                <a:sym typeface="Times New Roman"/>
              </a:rPr>
              <a:t>Analysis on </a:t>
            </a:r>
            <a:r>
              <a:rPr b="1" i="0" lang="en-US" sz="3000" u="none" cap="none" strike="noStrike">
                <a:solidFill>
                  <a:schemeClr val="dk1"/>
                </a:solidFill>
                <a:latin typeface="Times New Roman"/>
                <a:ea typeface="Times New Roman"/>
                <a:cs typeface="Times New Roman"/>
                <a:sym typeface="Times New Roman"/>
              </a:rPr>
              <a:t>Severity </a:t>
            </a:r>
            <a:endParaRPr b="0" i="0" sz="3000" u="none" cap="none" strike="noStrike">
              <a:solidFill>
                <a:srgbClr val="FFFFFF"/>
              </a:solidFill>
              <a:latin typeface="Arial"/>
              <a:ea typeface="Arial"/>
              <a:cs typeface="Arial"/>
              <a:sym typeface="Arial"/>
            </a:endParaRPr>
          </a:p>
        </p:txBody>
      </p:sp>
      <p:sp>
        <p:nvSpPr>
          <p:cNvPr id="124" name="Google Shape;124;p14"/>
          <p:cNvSpPr/>
          <p:nvPr/>
        </p:nvSpPr>
        <p:spPr>
          <a:xfrm>
            <a:off x="4522350" y="1666775"/>
            <a:ext cx="3682500" cy="18363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accent5"/>
              </a:buClr>
              <a:buSzPts val="1600"/>
              <a:buFont typeface="Times New Roman"/>
              <a:buChar char="✔"/>
            </a:pPr>
            <a:r>
              <a:rPr lang="en-US" sz="1600">
                <a:solidFill>
                  <a:schemeClr val="dk1"/>
                </a:solidFill>
                <a:latin typeface="Times New Roman"/>
                <a:ea typeface="Times New Roman"/>
                <a:cs typeface="Times New Roman"/>
                <a:sym typeface="Times New Roman"/>
              </a:rPr>
              <a:t>Urgent tickets are resolved faster, showing effective prioritization.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Normal severity tickets are taking longer to resolve, possibly due to uneven severity distribution to tickets.	 </a:t>
            </a:r>
            <a:endParaRPr sz="1600">
              <a:solidFill>
                <a:schemeClr val="dk1"/>
              </a:solidFill>
              <a:latin typeface="Times New Roman"/>
              <a:ea typeface="Times New Roman"/>
              <a:cs typeface="Times New Roman"/>
              <a:sym typeface="Times New Roman"/>
            </a:endParaRPr>
          </a:p>
        </p:txBody>
      </p:sp>
      <p:pic>
        <p:nvPicPr>
          <p:cNvPr id="125" name="Google Shape;125;p14" title="Chart"/>
          <p:cNvPicPr preferRelativeResize="0"/>
          <p:nvPr/>
        </p:nvPicPr>
        <p:blipFill>
          <a:blip r:embed="rId3">
            <a:alphaModFix/>
          </a:blip>
          <a:stretch>
            <a:fillRect/>
          </a:stretch>
        </p:blipFill>
        <p:spPr>
          <a:xfrm>
            <a:off x="258175" y="1417350"/>
            <a:ext cx="4264175" cy="233514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p:nvPr/>
        </p:nvSpPr>
        <p:spPr>
          <a:xfrm>
            <a:off x="649400" y="1580700"/>
            <a:ext cx="3647700" cy="19821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chart clearly demonstrates the steadiness of the satisfaction </a:t>
            </a:r>
            <a:r>
              <a:rPr lang="en-US" sz="1600">
                <a:solidFill>
                  <a:schemeClr val="dk1"/>
                </a:solidFill>
                <a:latin typeface="Times New Roman"/>
                <a:ea typeface="Times New Roman"/>
                <a:cs typeface="Times New Roman"/>
                <a:sym typeface="Times New Roman"/>
              </a:rPr>
              <a:t>level over the years which is around 4.1 .</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This indicates that requesters are satisfied with the services which IT support team provides. </a:t>
            </a:r>
            <a:endParaRPr sz="1600">
              <a:solidFill>
                <a:schemeClr val="dk1"/>
              </a:solidFill>
              <a:latin typeface="Times New Roman"/>
              <a:ea typeface="Times New Roman"/>
              <a:cs typeface="Times New Roman"/>
              <a:sym typeface="Times New Roman"/>
            </a:endParaRPr>
          </a:p>
        </p:txBody>
      </p:sp>
      <p:sp>
        <p:nvSpPr>
          <p:cNvPr id="131" name="Google Shape;131;p15"/>
          <p:cNvSpPr/>
          <p:nvPr/>
        </p:nvSpPr>
        <p:spPr>
          <a:xfrm>
            <a:off x="545400" y="241560"/>
            <a:ext cx="6643500" cy="6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chemeClr val="dk1"/>
                </a:solidFill>
                <a:latin typeface="Times New Roman"/>
                <a:ea typeface="Times New Roman"/>
                <a:cs typeface="Times New Roman"/>
                <a:sym typeface="Times New Roman"/>
              </a:rPr>
              <a:t>Satisfaction Rate over Time</a:t>
            </a:r>
            <a:endParaRPr b="0" i="0" sz="3000" u="none" cap="none" strike="noStrike">
              <a:solidFill>
                <a:srgbClr val="FFFFFF"/>
              </a:solidFill>
              <a:latin typeface="Arial"/>
              <a:ea typeface="Arial"/>
              <a:cs typeface="Arial"/>
              <a:sym typeface="Arial"/>
            </a:endParaRPr>
          </a:p>
        </p:txBody>
      </p:sp>
      <p:pic>
        <p:nvPicPr>
          <p:cNvPr id="132" name="Google Shape;132;p15" title="Chart"/>
          <p:cNvPicPr preferRelativeResize="0"/>
          <p:nvPr/>
        </p:nvPicPr>
        <p:blipFill>
          <a:blip r:embed="rId3">
            <a:alphaModFix/>
          </a:blip>
          <a:stretch>
            <a:fillRect/>
          </a:stretch>
        </p:blipFill>
        <p:spPr>
          <a:xfrm>
            <a:off x="4434800" y="1474150"/>
            <a:ext cx="3763199" cy="2195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6"/>
          <p:cNvSpPr/>
          <p:nvPr/>
        </p:nvSpPr>
        <p:spPr>
          <a:xfrm>
            <a:off x="545400" y="241560"/>
            <a:ext cx="664344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Customer Satisfaction Analysis</a:t>
            </a:r>
            <a:endParaRPr b="0" i="0" sz="3000" u="none" cap="none" strike="noStrike">
              <a:solidFill>
                <a:srgbClr val="FFFFFF"/>
              </a:solidFill>
              <a:latin typeface="Arial"/>
              <a:ea typeface="Arial"/>
              <a:cs typeface="Arial"/>
              <a:sym typeface="Arial"/>
            </a:endParaRPr>
          </a:p>
        </p:txBody>
      </p:sp>
      <p:pic>
        <p:nvPicPr>
          <p:cNvPr descr="A graph with blue dots&#10;&#10;AI-generated content may be incorrect." id="138" name="Google Shape;138;p16"/>
          <p:cNvPicPr preferRelativeResize="0"/>
          <p:nvPr/>
        </p:nvPicPr>
        <p:blipFill rotWithShape="1">
          <a:blip r:embed="rId3">
            <a:alphaModFix/>
          </a:blip>
          <a:srcRect b="0" l="0" r="0" t="0"/>
          <a:stretch/>
        </p:blipFill>
        <p:spPr>
          <a:xfrm>
            <a:off x="603246" y="1037566"/>
            <a:ext cx="3555699" cy="2419899"/>
          </a:xfrm>
          <a:prstGeom prst="rect">
            <a:avLst/>
          </a:prstGeom>
          <a:noFill/>
          <a:ln>
            <a:noFill/>
          </a:ln>
        </p:spPr>
      </p:pic>
      <p:pic>
        <p:nvPicPr>
          <p:cNvPr id="139" name="Google Shape;139;p16"/>
          <p:cNvPicPr preferRelativeResize="0"/>
          <p:nvPr/>
        </p:nvPicPr>
        <p:blipFill rotWithShape="1">
          <a:blip r:embed="rId4">
            <a:alphaModFix/>
          </a:blip>
          <a:srcRect b="0" l="0" r="0" t="0"/>
          <a:stretch/>
        </p:blipFill>
        <p:spPr>
          <a:xfrm>
            <a:off x="4272097" y="1038641"/>
            <a:ext cx="4343300" cy="2419900"/>
          </a:xfrm>
          <a:prstGeom prst="rect">
            <a:avLst/>
          </a:prstGeom>
          <a:noFill/>
          <a:ln>
            <a:noFill/>
          </a:ln>
        </p:spPr>
      </p:pic>
      <p:sp>
        <p:nvSpPr>
          <p:cNvPr id="140" name="Google Shape;140;p16"/>
          <p:cNvSpPr/>
          <p:nvPr/>
        </p:nvSpPr>
        <p:spPr>
          <a:xfrm>
            <a:off x="603245" y="3615925"/>
            <a:ext cx="6643500" cy="5181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chemeClr val="accent5"/>
              </a:buClr>
              <a:buSzPts val="1400"/>
              <a:buFont typeface="Times New Roman"/>
              <a:buChar char="●"/>
            </a:pPr>
            <a:r>
              <a:rPr b="0" i="0" lang="en-US" sz="1400" u="none" cap="none" strike="noStrike">
                <a:solidFill>
                  <a:schemeClr val="accent5"/>
                </a:solidFill>
                <a:latin typeface="Times New Roman"/>
                <a:ea typeface="Times New Roman"/>
                <a:cs typeface="Times New Roman"/>
                <a:sym typeface="Times New Roman"/>
              </a:rPr>
              <a:t>Faster resolution does not always guarantee higher satisfaction.</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7"/>
          <p:cNvSpPr/>
          <p:nvPr/>
        </p:nvSpPr>
        <p:spPr>
          <a:xfrm>
            <a:off x="545400" y="241560"/>
            <a:ext cx="664344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Agent Performance Analysis</a:t>
            </a:r>
            <a:endParaRPr b="0" i="0" sz="3000" u="none" cap="none" strike="noStrike">
              <a:solidFill>
                <a:srgbClr val="FFFFFF"/>
              </a:solidFill>
              <a:latin typeface="Arial"/>
              <a:ea typeface="Arial"/>
              <a:cs typeface="Arial"/>
              <a:sym typeface="Arial"/>
            </a:endParaRPr>
          </a:p>
        </p:txBody>
      </p:sp>
      <p:pic>
        <p:nvPicPr>
          <p:cNvPr id="146" name="Google Shape;146;p17" title="Chart"/>
          <p:cNvPicPr preferRelativeResize="0"/>
          <p:nvPr/>
        </p:nvPicPr>
        <p:blipFill>
          <a:blip r:embed="rId3">
            <a:alphaModFix/>
          </a:blip>
          <a:stretch>
            <a:fillRect/>
          </a:stretch>
        </p:blipFill>
        <p:spPr>
          <a:xfrm>
            <a:off x="152400" y="1033680"/>
            <a:ext cx="8609887" cy="39574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8"/>
          <p:cNvSpPr/>
          <p:nvPr/>
        </p:nvSpPr>
        <p:spPr>
          <a:xfrm>
            <a:off x="372025" y="235775"/>
            <a:ext cx="7837500" cy="6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chemeClr val="dk1"/>
                </a:solidFill>
                <a:latin typeface="Times New Roman"/>
                <a:ea typeface="Times New Roman"/>
                <a:cs typeface="Times New Roman"/>
                <a:sym typeface="Times New Roman"/>
              </a:rPr>
              <a:t>Performance Analysis on Agent’s Age Group</a:t>
            </a:r>
            <a:endParaRPr b="0" i="0" sz="3000" u="none" cap="none" strike="noStrike">
              <a:solidFill>
                <a:srgbClr val="FFFFFF"/>
              </a:solidFill>
              <a:latin typeface="Arial"/>
              <a:ea typeface="Arial"/>
              <a:cs typeface="Arial"/>
              <a:sym typeface="Arial"/>
            </a:endParaRPr>
          </a:p>
        </p:txBody>
      </p:sp>
      <p:sp>
        <p:nvSpPr>
          <p:cNvPr id="152" name="Google Shape;152;p18"/>
          <p:cNvSpPr/>
          <p:nvPr/>
        </p:nvSpPr>
        <p:spPr>
          <a:xfrm>
            <a:off x="4498225" y="1259412"/>
            <a:ext cx="3711300" cy="23751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Average satisfaction rate for all age groups are almost equal.</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Most senior agents (50+) has lowest average resolution time </a:t>
            </a:r>
            <a:r>
              <a:rPr lang="en-US" sz="1600">
                <a:solidFill>
                  <a:schemeClr val="dk1"/>
                </a:solidFill>
                <a:latin typeface="Times New Roman"/>
                <a:ea typeface="Times New Roman"/>
                <a:cs typeface="Times New Roman"/>
                <a:sym typeface="Times New Roman"/>
              </a:rPr>
              <a:t>roughly</a:t>
            </a:r>
            <a:r>
              <a:rPr lang="en-US" sz="1600">
                <a:solidFill>
                  <a:schemeClr val="dk1"/>
                </a:solidFill>
                <a:latin typeface="Times New Roman"/>
                <a:ea typeface="Times New Roman"/>
                <a:cs typeface="Times New Roman"/>
                <a:sym typeface="Times New Roman"/>
              </a:rPr>
              <a:t> around 4.1 days.</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Other age groups has higher resolution time about 4.5 days.</a:t>
            </a:r>
            <a:endParaRPr sz="1600">
              <a:solidFill>
                <a:schemeClr val="dk1"/>
              </a:solidFill>
              <a:latin typeface="Times New Roman"/>
              <a:ea typeface="Times New Roman"/>
              <a:cs typeface="Times New Roman"/>
              <a:sym typeface="Times New Roman"/>
            </a:endParaRPr>
          </a:p>
        </p:txBody>
      </p:sp>
      <p:pic>
        <p:nvPicPr>
          <p:cNvPr id="153" name="Google Shape;153;p18" title="Chart"/>
          <p:cNvPicPr preferRelativeResize="0"/>
          <p:nvPr/>
        </p:nvPicPr>
        <p:blipFill rotWithShape="1">
          <a:blip r:embed="rId3">
            <a:alphaModFix/>
          </a:blip>
          <a:srcRect b="0" l="0" r="0" t="0"/>
          <a:stretch/>
        </p:blipFill>
        <p:spPr>
          <a:xfrm>
            <a:off x="243500" y="1222449"/>
            <a:ext cx="4198350" cy="2449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p:nvPr/>
        </p:nvSpPr>
        <p:spPr>
          <a:xfrm>
            <a:off x="545400" y="241560"/>
            <a:ext cx="6643440" cy="487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000" u="none" cap="none" strike="noStrike">
                <a:solidFill>
                  <a:schemeClr val="accent4"/>
                </a:solidFill>
                <a:latin typeface="Times New Roman"/>
                <a:ea typeface="Times New Roman"/>
                <a:cs typeface="Times New Roman"/>
                <a:sym typeface="Times New Roman"/>
              </a:rPr>
              <a:t>Insights</a:t>
            </a:r>
            <a:r>
              <a:rPr b="0" i="0" lang="en-US" sz="2000" u="none" cap="none" strike="noStrike">
                <a:solidFill>
                  <a:schemeClr val="accent4"/>
                </a:solidFill>
                <a:latin typeface="Times New Roman"/>
                <a:ea typeface="Times New Roman"/>
                <a:cs typeface="Times New Roman"/>
                <a:sym typeface="Times New Roman"/>
              </a:rPr>
              <a:t>:</a:t>
            </a:r>
            <a:endParaRPr b="0" i="0" sz="2000" u="none" cap="none" strike="noStrike">
              <a:solidFill>
                <a:srgbClr val="FFFFFF"/>
              </a:solidFill>
              <a:latin typeface="Arial"/>
              <a:ea typeface="Arial"/>
              <a:cs typeface="Arial"/>
              <a:sym typeface="Arial"/>
            </a:endParaRPr>
          </a:p>
        </p:txBody>
      </p:sp>
      <p:sp>
        <p:nvSpPr>
          <p:cNvPr id="159" name="Google Shape;159;p19"/>
          <p:cNvSpPr/>
          <p:nvPr/>
        </p:nvSpPr>
        <p:spPr>
          <a:xfrm>
            <a:off x="545760" y="728280"/>
            <a:ext cx="6644880" cy="731520"/>
          </a:xfrm>
          <a:prstGeom prst="rect">
            <a:avLst/>
          </a:prstGeom>
          <a:noFill/>
          <a:ln>
            <a:noFill/>
          </a:ln>
        </p:spPr>
        <p:txBody>
          <a:bodyPr anchorCtr="0" anchor="t" bIns="45700" lIns="91425" spcFirstLastPara="1" rIns="91425" wrap="square" tIns="45700">
            <a:noAutofit/>
          </a:bodyPr>
          <a:lstStyle/>
          <a:p>
            <a:pPr indent="-285840" lvl="0" marL="28584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Performance variation exists among agents</a:t>
            </a:r>
            <a:endParaRPr b="0" i="0" sz="14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Some agents require targeted training</a:t>
            </a:r>
            <a:endParaRPr b="0" i="0" sz="14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Workload distribution is uneven</a:t>
            </a:r>
            <a:endParaRPr b="0" i="0" sz="1400" u="none" cap="none" strike="noStrike">
              <a:solidFill>
                <a:schemeClr val="dk1"/>
              </a:solidFill>
              <a:latin typeface="Arial"/>
              <a:ea typeface="Arial"/>
              <a:cs typeface="Arial"/>
              <a:sym typeface="Arial"/>
            </a:endParaRPr>
          </a:p>
        </p:txBody>
      </p:sp>
      <p:sp>
        <p:nvSpPr>
          <p:cNvPr id="160" name="Google Shape;160;p19"/>
          <p:cNvSpPr/>
          <p:nvPr/>
        </p:nvSpPr>
        <p:spPr>
          <a:xfrm>
            <a:off x="545400" y="1960275"/>
            <a:ext cx="3887100" cy="1751100"/>
          </a:xfrm>
          <a:prstGeom prst="rect">
            <a:avLst/>
          </a:prstGeom>
          <a:noFill/>
          <a:ln>
            <a:noFill/>
          </a:ln>
        </p:spPr>
        <p:txBody>
          <a:bodyPr anchorCtr="0" anchor="t" bIns="45700" lIns="91425" spcFirstLastPara="1" rIns="91425" wrap="square" tIns="45700">
            <a:noAutofit/>
          </a:bodyPr>
          <a:lstStyle/>
          <a:p>
            <a:pPr indent="-285840" lvl="0" marL="28584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These are some agents who requires training to improve their average resolution time.</a:t>
            </a:r>
            <a:endParaRPr b="0" i="0" sz="14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85840" lvl="0" marL="28584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The matrix shows the agents with average resolution time above the overall average and has less satisfaction rate that average satisfaction rate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id="161" name="Google Shape;161;p19"/>
          <p:cNvPicPr preferRelativeResize="0"/>
          <p:nvPr/>
        </p:nvPicPr>
        <p:blipFill rotWithShape="1">
          <a:blip r:embed="rId3">
            <a:alphaModFix/>
          </a:blip>
          <a:srcRect b="0" l="0" r="0" t="0"/>
          <a:stretch/>
        </p:blipFill>
        <p:spPr>
          <a:xfrm>
            <a:off x="4532725" y="1616176"/>
            <a:ext cx="4113858" cy="2439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p:nvPr/>
        </p:nvSpPr>
        <p:spPr>
          <a:xfrm>
            <a:off x="545400" y="241560"/>
            <a:ext cx="779616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INVESTMENT DECISION ANALYSIS</a:t>
            </a:r>
            <a:endParaRPr b="0" i="0" sz="3000" u="none" cap="none" strike="noStrike">
              <a:solidFill>
                <a:srgbClr val="FFFFFF"/>
              </a:solidFill>
              <a:latin typeface="Arial"/>
              <a:ea typeface="Arial"/>
              <a:cs typeface="Arial"/>
              <a:sym typeface="Arial"/>
            </a:endParaRPr>
          </a:p>
        </p:txBody>
      </p:sp>
      <p:sp>
        <p:nvSpPr>
          <p:cNvPr id="167" name="Google Shape;167;p20"/>
          <p:cNvSpPr/>
          <p:nvPr/>
        </p:nvSpPr>
        <p:spPr>
          <a:xfrm>
            <a:off x="541800" y="1064160"/>
            <a:ext cx="6759000" cy="36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chemeClr val="accent5"/>
                </a:solidFill>
                <a:latin typeface="Times New Roman"/>
                <a:ea typeface="Times New Roman"/>
                <a:cs typeface="Times New Roman"/>
                <a:sym typeface="Times New Roman"/>
              </a:rPr>
              <a:t>Where Should the Company Invest?</a:t>
            </a:r>
            <a:endParaRPr b="0" i="0" sz="1800" u="none" cap="none" strike="noStrike">
              <a:solidFill>
                <a:srgbClr val="FFFFFF"/>
              </a:solidFill>
              <a:latin typeface="Arial"/>
              <a:ea typeface="Arial"/>
              <a:cs typeface="Arial"/>
              <a:sym typeface="Arial"/>
            </a:endParaRPr>
          </a:p>
        </p:txBody>
      </p:sp>
      <p:graphicFrame>
        <p:nvGraphicFramePr>
          <p:cNvPr id="168" name="Google Shape;168;p20"/>
          <p:cNvGraphicFramePr/>
          <p:nvPr/>
        </p:nvGraphicFramePr>
        <p:xfrm>
          <a:off x="543600" y="1707840"/>
          <a:ext cx="3000000" cy="3000000"/>
        </p:xfrm>
        <a:graphic>
          <a:graphicData uri="http://schemas.openxmlformats.org/drawingml/2006/table">
            <a:tbl>
              <a:tblPr>
                <a:noFill/>
                <a:tableStyleId>{0942A115-B895-4D74-B2F6-B3FDDC81DE4F}</a:tableStyleId>
              </a:tblPr>
              <a:tblGrid>
                <a:gridCol w="3500650"/>
                <a:gridCol w="2202125"/>
              </a:tblGrid>
              <a:tr h="487800">
                <a:tc>
                  <a:txBody>
                    <a:bodyPr/>
                    <a:lstStyle/>
                    <a:p>
                      <a:pPr indent="0" lvl="0" marL="0" marR="0" rtl="0" algn="ctr">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Investment</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None/>
                      </a:pPr>
                      <a:r>
                        <a:rPr b="1" lang="en-US" sz="1400" u="none" cap="none" strike="noStrike">
                          <a:solidFill>
                            <a:schemeClr val="dk2"/>
                          </a:solidFill>
                          <a:latin typeface="Arial"/>
                          <a:ea typeface="Arial"/>
                          <a:cs typeface="Arial"/>
                          <a:sym typeface="Arial"/>
                        </a:rPr>
                        <a:t>Impact</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chemeClr val="accent2"/>
                    </a:solidFill>
                  </a:tcPr>
                </a:tc>
              </a:tr>
              <a:tr h="462600">
                <a:tc>
                  <a:txBody>
                    <a:bodyPr/>
                    <a:lstStyle/>
                    <a:p>
                      <a:pPr indent="0" lvl="0" marL="0" marR="0" rtl="0" algn="l">
                        <a:lnSpc>
                          <a:spcPct val="100000"/>
                        </a:lnSpc>
                        <a:spcBef>
                          <a:spcPts val="0"/>
                        </a:spcBef>
                        <a:spcAft>
                          <a:spcPts val="0"/>
                        </a:spcAft>
                        <a:buNone/>
                      </a:pPr>
                      <a:r>
                        <a:rPr b="0" lang="en-US" sz="1400" u="none" cap="none" strike="noStrike">
                          <a:solidFill>
                            <a:schemeClr val="lt2"/>
                          </a:solidFill>
                          <a:latin typeface="Arial"/>
                          <a:ea typeface="Arial"/>
                          <a:cs typeface="Arial"/>
                          <a:sym typeface="Arial"/>
                        </a:rPr>
                        <a:t>More Agents</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c>
                  <a:txBody>
                    <a:bodyPr/>
                    <a:lstStyle/>
                    <a:p>
                      <a:pPr indent="0" lvl="0" marL="0" marR="0" rtl="0" algn="ctr">
                        <a:lnSpc>
                          <a:spcPct val="100000"/>
                        </a:lnSpc>
                        <a:spcBef>
                          <a:spcPts val="0"/>
                        </a:spcBef>
                        <a:spcAft>
                          <a:spcPts val="0"/>
                        </a:spcAft>
                        <a:buNone/>
                      </a:pPr>
                      <a:r>
                        <a:rPr b="1" lang="en-US" sz="1600" u="none" cap="none" strike="noStrike">
                          <a:solidFill>
                            <a:srgbClr val="00626A"/>
                          </a:solidFill>
                          <a:latin typeface="Calibri"/>
                          <a:ea typeface="Calibri"/>
                          <a:cs typeface="Calibri"/>
                          <a:sym typeface="Calibri"/>
                        </a:rPr>
                        <a:t>Medium</a:t>
                      </a:r>
                      <a:endParaRPr b="0" sz="16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r>
              <a:tr h="387725">
                <a:tc>
                  <a:txBody>
                    <a:bodyPr/>
                    <a:lstStyle/>
                    <a:p>
                      <a:pPr indent="0" lvl="0" marL="0" marR="0" rtl="0" algn="l">
                        <a:lnSpc>
                          <a:spcPct val="100000"/>
                        </a:lnSpc>
                        <a:spcBef>
                          <a:spcPts val="0"/>
                        </a:spcBef>
                        <a:spcAft>
                          <a:spcPts val="0"/>
                        </a:spcAft>
                        <a:buNone/>
                      </a:pPr>
                      <a:r>
                        <a:rPr b="0" lang="en-US" sz="1400" u="none" cap="none" strike="noStrike">
                          <a:solidFill>
                            <a:schemeClr val="dk2"/>
                          </a:solidFill>
                          <a:latin typeface="Arial"/>
                          <a:ea typeface="Arial"/>
                          <a:cs typeface="Arial"/>
                          <a:sym typeface="Arial"/>
                        </a:rPr>
                        <a:t>Training Programs</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32B74"/>
                          </a:solidFill>
                          <a:latin typeface="Arial"/>
                          <a:ea typeface="Arial"/>
                          <a:cs typeface="Arial"/>
                          <a:sym typeface="Arial"/>
                        </a:rPr>
                        <a:t>High</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F2F2F2"/>
                    </a:solidFill>
                  </a:tcPr>
                </a:tc>
              </a:tr>
              <a:tr h="387725">
                <a:tc>
                  <a:txBody>
                    <a:bodyPr/>
                    <a:lstStyle/>
                    <a:p>
                      <a:pPr indent="0" lvl="0" marL="0" marR="0" rtl="0" algn="l">
                        <a:lnSpc>
                          <a:spcPct val="100000"/>
                        </a:lnSpc>
                        <a:spcBef>
                          <a:spcPts val="0"/>
                        </a:spcBef>
                        <a:spcAft>
                          <a:spcPts val="0"/>
                        </a:spcAft>
                        <a:buNone/>
                      </a:pPr>
                      <a:r>
                        <a:rPr b="0" lang="en-US" sz="1400" u="none" cap="none" strike="noStrike">
                          <a:solidFill>
                            <a:schemeClr val="dk2"/>
                          </a:solidFill>
                          <a:latin typeface="Arial"/>
                          <a:ea typeface="Arial"/>
                          <a:cs typeface="Arial"/>
                          <a:sym typeface="Arial"/>
                        </a:rPr>
                        <a:t>Software &amp; Hardware Upgrade</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FF0000"/>
                          </a:solidFill>
                          <a:latin typeface="Arial"/>
                          <a:ea typeface="Arial"/>
                          <a:cs typeface="Arial"/>
                          <a:sym typeface="Arial"/>
                        </a:rPr>
                        <a:t>Highest</a:t>
                      </a:r>
                      <a:endParaRPr b="0" sz="1400" u="none" cap="none" strike="noStrike">
                        <a:solidFill>
                          <a:srgbClr val="000000"/>
                        </a:solidFill>
                        <a:latin typeface="Arial"/>
                        <a:ea typeface="Arial"/>
                        <a:cs typeface="Arial"/>
                        <a:sym typeface="Arial"/>
                      </a:endParaRPr>
                    </a:p>
                  </a:txBody>
                  <a:tcPr marT="45725" marB="45725" marR="91450" marL="91450">
                    <a:lnL cap="flat" cmpd="sng" w="12225">
                      <a:solidFill>
                        <a:srgbClr val="C00000"/>
                      </a:solidFill>
                      <a:prstDash val="solid"/>
                      <a:round/>
                      <a:headEnd len="sm" w="sm" type="none"/>
                      <a:tailEnd len="sm" w="sm" type="none"/>
                    </a:lnL>
                    <a:lnR cap="flat" cmpd="sng" w="12225">
                      <a:solidFill>
                        <a:srgbClr val="C00000"/>
                      </a:solidFill>
                      <a:prstDash val="solid"/>
                      <a:round/>
                      <a:headEnd len="sm" w="sm" type="none"/>
                      <a:tailEnd len="sm" w="sm" type="none"/>
                    </a:lnR>
                    <a:lnT cap="flat" cmpd="sng" w="12225">
                      <a:solidFill>
                        <a:srgbClr val="C00000"/>
                      </a:solidFill>
                      <a:prstDash val="solid"/>
                      <a:round/>
                      <a:headEnd len="sm" w="sm" type="none"/>
                      <a:tailEnd len="sm" w="sm" type="none"/>
                    </a:lnT>
                    <a:lnB cap="flat" cmpd="sng" w="12225">
                      <a:solidFill>
                        <a:srgbClr val="C00000"/>
                      </a:solidFill>
                      <a:prstDash val="solid"/>
                      <a:round/>
                      <a:headEnd len="sm" w="sm" type="none"/>
                      <a:tailEnd len="sm" w="sm" type="none"/>
                    </a:lnB>
                    <a:solidFill>
                      <a:srgbClr val="E3E3E5"/>
                    </a:solidFill>
                  </a:tcPr>
                </a:tc>
              </a:tr>
            </a:tbl>
          </a:graphicData>
        </a:graphic>
      </p:graphicFrame>
      <p:sp>
        <p:nvSpPr>
          <p:cNvPr id="169" name="Google Shape;169;p20"/>
          <p:cNvSpPr/>
          <p:nvPr/>
        </p:nvSpPr>
        <p:spPr>
          <a:xfrm>
            <a:off x="541800" y="3714840"/>
            <a:ext cx="7350480" cy="334800"/>
          </a:xfrm>
          <a:prstGeom prst="rect">
            <a:avLst/>
          </a:prstGeom>
          <a:noFill/>
          <a:ln>
            <a:noFill/>
          </a:ln>
        </p:spPr>
        <p:txBody>
          <a:bodyPr anchorCtr="0" anchor="t" bIns="45700" lIns="91425" spcFirstLastPara="1" rIns="91425" wrap="square" tIns="45700">
            <a:noAutofit/>
          </a:bodyPr>
          <a:lstStyle/>
          <a:p>
            <a:pPr indent="-285840" lvl="0" marL="28584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Upgrade ticket </a:t>
            </a:r>
            <a:r>
              <a:rPr b="0" i="0" lang="en-US" sz="1600" u="none" cap="none" strike="noStrike">
                <a:solidFill>
                  <a:schemeClr val="dk1"/>
                </a:solidFill>
                <a:latin typeface="Times New Roman"/>
                <a:ea typeface="Times New Roman"/>
                <a:cs typeface="Times New Roman"/>
                <a:sym typeface="Times New Roman"/>
              </a:rPr>
              <a:t>management</a:t>
            </a:r>
            <a:r>
              <a:rPr b="0" i="0" lang="en-US" sz="1400" u="none" cap="none" strike="noStrike">
                <a:solidFill>
                  <a:schemeClr val="dk1"/>
                </a:solidFill>
                <a:latin typeface="Times New Roman"/>
                <a:ea typeface="Times New Roman"/>
                <a:cs typeface="Times New Roman"/>
                <a:sym typeface="Times New Roman"/>
              </a:rPr>
              <a:t> Hardware and software first, then improve training programs.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1"/>
          <p:cNvPicPr preferRelativeResize="0"/>
          <p:nvPr/>
        </p:nvPicPr>
        <p:blipFill>
          <a:blip r:embed="rId3">
            <a:alphaModFix/>
          </a:blip>
          <a:stretch>
            <a:fillRect/>
          </a:stretch>
        </p:blipFill>
        <p:spPr>
          <a:xfrm>
            <a:off x="-75450" y="650725"/>
            <a:ext cx="9219450" cy="4492775"/>
          </a:xfrm>
          <a:prstGeom prst="rect">
            <a:avLst/>
          </a:prstGeom>
          <a:noFill/>
          <a:ln>
            <a:noFill/>
          </a:ln>
        </p:spPr>
      </p:pic>
      <p:sp>
        <p:nvSpPr>
          <p:cNvPr id="175" name="Google Shape;175;p21"/>
          <p:cNvSpPr/>
          <p:nvPr/>
        </p:nvSpPr>
        <p:spPr>
          <a:xfrm>
            <a:off x="375625" y="128403"/>
            <a:ext cx="6612600" cy="41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000">
                <a:solidFill>
                  <a:schemeClr val="dk1"/>
                </a:solidFill>
                <a:latin typeface="Times New Roman"/>
                <a:ea typeface="Times New Roman"/>
                <a:cs typeface="Times New Roman"/>
                <a:sym typeface="Times New Roman"/>
              </a:rPr>
              <a:t>Dashboard</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A magnifying glass and a light bulb&#10;&#10;AI-generated content may be incorrect." id="180" name="Google Shape;180;p22"/>
          <p:cNvPicPr preferRelativeResize="0"/>
          <p:nvPr/>
        </p:nvPicPr>
        <p:blipFill rotWithShape="1">
          <a:blip r:embed="rId3">
            <a:alphaModFix/>
          </a:blip>
          <a:srcRect b="0" l="0" r="0" t="0"/>
          <a:stretch/>
        </p:blipFill>
        <p:spPr>
          <a:xfrm>
            <a:off x="6124320" y="2320920"/>
            <a:ext cx="2777760" cy="2827080"/>
          </a:xfrm>
          <a:prstGeom prst="rect">
            <a:avLst/>
          </a:prstGeom>
          <a:noFill/>
          <a:ln>
            <a:noFill/>
          </a:ln>
        </p:spPr>
      </p:pic>
      <p:sp>
        <p:nvSpPr>
          <p:cNvPr id="181" name="Google Shape;181;p22"/>
          <p:cNvSpPr/>
          <p:nvPr/>
        </p:nvSpPr>
        <p:spPr>
          <a:xfrm>
            <a:off x="545400" y="241560"/>
            <a:ext cx="779616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KEY INSIGHTS</a:t>
            </a:r>
            <a:endParaRPr b="0" i="0" sz="3000" u="none" cap="none" strike="noStrike">
              <a:solidFill>
                <a:srgbClr val="FFFFFF"/>
              </a:solidFill>
              <a:latin typeface="Arial"/>
              <a:ea typeface="Arial"/>
              <a:cs typeface="Arial"/>
              <a:sym typeface="Arial"/>
            </a:endParaRPr>
          </a:p>
        </p:txBody>
      </p:sp>
      <p:sp>
        <p:nvSpPr>
          <p:cNvPr id="182" name="Google Shape;182;p22"/>
          <p:cNvSpPr/>
          <p:nvPr/>
        </p:nvSpPr>
        <p:spPr>
          <a:xfrm>
            <a:off x="541800" y="1290960"/>
            <a:ext cx="6315840" cy="1737000"/>
          </a:xfrm>
          <a:prstGeom prst="rect">
            <a:avLst/>
          </a:prstGeom>
          <a:noFill/>
          <a:ln>
            <a:noFill/>
          </a:ln>
        </p:spPr>
        <p:txBody>
          <a:bodyPr anchorCtr="0" anchor="t" bIns="45700" lIns="91425" spcFirstLastPara="1" rIns="91425" wrap="square" tIns="45700">
            <a:noAutofit/>
          </a:bodyPr>
          <a:lstStyle/>
          <a:p>
            <a:pPr indent="-285840" lvl="0" marL="28584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Ticket volume is increasing steadily </a:t>
            </a:r>
            <a:endParaRPr b="0" i="0" sz="18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Hardware tickets are slowest</a:t>
            </a:r>
            <a:endParaRPr b="0" i="0" sz="18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Urgent tickets are prioritized effectively</a:t>
            </a:r>
            <a:endParaRPr b="0" i="0" sz="18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Some agents require training</a:t>
            </a:r>
            <a:endParaRPr b="0" i="0" sz="18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Process inefficiency is a bigger issue than manpower shortage</a:t>
            </a:r>
            <a:endParaRPr b="0" i="0" sz="1800" u="none" cap="none" strike="noStrike">
              <a:solidFill>
                <a:schemeClr val="dk1"/>
              </a:solidFill>
              <a:latin typeface="Arial"/>
              <a:ea typeface="Arial"/>
              <a:cs typeface="Arial"/>
              <a:sym typeface="Arial"/>
            </a:endParaRPr>
          </a:p>
          <a:p>
            <a:pPr indent="-285840" lvl="0" marL="28584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Technology investment offers best ROI</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p:nvPr/>
        </p:nvSpPr>
        <p:spPr>
          <a:xfrm>
            <a:off x="545400" y="241560"/>
            <a:ext cx="7796100" cy="63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3000">
                <a:solidFill>
                  <a:schemeClr val="dk1"/>
                </a:solidFill>
                <a:latin typeface="Times New Roman"/>
                <a:ea typeface="Times New Roman"/>
                <a:cs typeface="Times New Roman"/>
                <a:sym typeface="Times New Roman"/>
              </a:rPr>
              <a:t>Recommendations</a:t>
            </a:r>
            <a:endParaRPr b="0" i="0" sz="3000" u="none" cap="none" strike="noStrike">
              <a:solidFill>
                <a:srgbClr val="FFFFFF"/>
              </a:solidFill>
              <a:latin typeface="Arial"/>
              <a:ea typeface="Arial"/>
              <a:cs typeface="Arial"/>
              <a:sym typeface="Arial"/>
            </a:endParaRPr>
          </a:p>
        </p:txBody>
      </p:sp>
      <p:sp>
        <p:nvSpPr>
          <p:cNvPr id="188" name="Google Shape;188;p23"/>
          <p:cNvSpPr/>
          <p:nvPr/>
        </p:nvSpPr>
        <p:spPr>
          <a:xfrm>
            <a:off x="545400" y="1074050"/>
            <a:ext cx="7904400" cy="14157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Upgrade the ticket management software with automation and smart routing</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Implement targeted technical and customer-service training programs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Automate repetitive requests such as Login Access tickets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Use experience-based ticket assignment and mentorship programs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Optimize workload distribution among support agents</a:t>
            </a:r>
            <a:endParaRPr sz="1600">
              <a:solidFill>
                <a:schemeClr val="dk1"/>
              </a:solidFill>
              <a:latin typeface="Times New Roman"/>
              <a:ea typeface="Times New Roman"/>
              <a:cs typeface="Times New Roman"/>
              <a:sym typeface="Times New Roman"/>
            </a:endParaRPr>
          </a:p>
        </p:txBody>
      </p:sp>
      <p:sp>
        <p:nvSpPr>
          <p:cNvPr id="189" name="Google Shape;189;p23"/>
          <p:cNvSpPr txBox="1"/>
          <p:nvPr/>
        </p:nvSpPr>
        <p:spPr>
          <a:xfrm>
            <a:off x="272700" y="3395000"/>
            <a:ext cx="8449800" cy="648000"/>
          </a:xfrm>
          <a:prstGeom prst="rect">
            <a:avLst/>
          </a:prstGeom>
          <a:noFill/>
          <a:ln>
            <a:noFill/>
          </a:ln>
        </p:spPr>
        <p:txBody>
          <a:bodyPr anchorCtr="0" anchor="t" bIns="91425" lIns="91425" spcFirstLastPara="1" rIns="91425" wrap="square" tIns="91425">
            <a:spAutoFit/>
          </a:bodyPr>
          <a:lstStyle/>
          <a:p>
            <a:pPr indent="0" lvl="0" marL="381000" marR="381000" rtl="0" algn="ctr">
              <a:lnSpc>
                <a:spcPct val="115000"/>
              </a:lnSpc>
              <a:spcBef>
                <a:spcPts val="1200"/>
              </a:spcBef>
              <a:spcAft>
                <a:spcPts val="1200"/>
              </a:spcAft>
              <a:buNone/>
            </a:pPr>
            <a:r>
              <a:rPr lang="en-US">
                <a:solidFill>
                  <a:schemeClr val="dk1"/>
                </a:solidFill>
                <a:latin typeface="Times New Roman"/>
                <a:ea typeface="Times New Roman"/>
                <a:cs typeface="Times New Roman"/>
                <a:sym typeface="Times New Roman"/>
              </a:rPr>
              <a:t>“</a:t>
            </a:r>
            <a:r>
              <a:rPr lang="en-US">
                <a:solidFill>
                  <a:schemeClr val="dk1"/>
                </a:solidFill>
                <a:latin typeface="Times New Roman"/>
                <a:ea typeface="Times New Roman"/>
                <a:cs typeface="Times New Roman"/>
                <a:sym typeface="Times New Roman"/>
              </a:rPr>
              <a:t>Focus on process optimization, automation, and training before increasing manpower, as operational inefficiencies are the primary bottleneck rather than workforce shortage.”</a:t>
            </a:r>
            <a:endParaRPr>
              <a:solidFill>
                <a:schemeClr val="dk1"/>
              </a:solidFill>
              <a:latin typeface="Times New Roman"/>
              <a:ea typeface="Times New Roman"/>
              <a:cs typeface="Times New Roman"/>
              <a:sym typeface="Times New Roman"/>
            </a:endParaRPr>
          </a:p>
        </p:txBody>
      </p:sp>
      <p:sp>
        <p:nvSpPr>
          <p:cNvPr id="190" name="Google Shape;190;p23"/>
          <p:cNvSpPr txBox="1"/>
          <p:nvPr/>
        </p:nvSpPr>
        <p:spPr>
          <a:xfrm>
            <a:off x="727625" y="2994800"/>
            <a:ext cx="63549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2400"/>
              </a:spcBef>
              <a:spcAft>
                <a:spcPts val="0"/>
              </a:spcAft>
              <a:buClr>
                <a:schemeClr val="dk1"/>
              </a:buClr>
              <a:buSzPts val="1400"/>
              <a:buChar char="❖"/>
            </a:pPr>
            <a:r>
              <a:rPr b="1" lang="en-US">
                <a:solidFill>
                  <a:schemeClr val="dk1"/>
                </a:solidFill>
              </a:rPr>
              <a:t>Final Strategic Recommendation</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p:nvPr/>
        </p:nvSpPr>
        <p:spPr>
          <a:xfrm>
            <a:off x="545400" y="241560"/>
            <a:ext cx="7796160" cy="639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Conclusion</a:t>
            </a:r>
            <a:endParaRPr b="0" i="0" sz="3000" u="none" cap="none" strike="noStrike">
              <a:solidFill>
                <a:srgbClr val="FFFFFF"/>
              </a:solidFill>
              <a:latin typeface="Arial"/>
              <a:ea typeface="Arial"/>
              <a:cs typeface="Arial"/>
              <a:sym typeface="Arial"/>
            </a:endParaRPr>
          </a:p>
        </p:txBody>
      </p:sp>
      <p:sp>
        <p:nvSpPr>
          <p:cNvPr id="196" name="Google Shape;196;p24"/>
          <p:cNvSpPr/>
          <p:nvPr/>
        </p:nvSpPr>
        <p:spPr>
          <a:xfrm>
            <a:off x="541800" y="1290960"/>
            <a:ext cx="6414120" cy="2559960"/>
          </a:xfrm>
          <a:prstGeom prst="rect">
            <a:avLst/>
          </a:prstGeom>
          <a:noFill/>
          <a:ln>
            <a:noFill/>
          </a:ln>
        </p:spPr>
        <p:txBody>
          <a:bodyPr anchorCtr="0" anchor="t" bIns="45700" lIns="91425" spcFirstLastPara="1" rIns="91425" wrap="square" tIns="45700">
            <a:noAutofit/>
          </a:bodyPr>
          <a:lstStyle/>
          <a:p>
            <a:pPr indent="-285840" lvl="0" marL="285840" marR="0" rtl="0" algn="just">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The analysis demonstrates that the IT support team is handling growing workloads effectively, but operational inefficiencies remain in specific categories and workflows. </a:t>
            </a:r>
            <a:endParaRPr i="0" sz="1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i="0" sz="1800" u="none" cap="none" strike="noStrike">
              <a:solidFill>
                <a:schemeClr val="dk1"/>
              </a:solidFill>
              <a:latin typeface="Times New Roman"/>
              <a:ea typeface="Times New Roman"/>
              <a:cs typeface="Times New Roman"/>
              <a:sym typeface="Times New Roman"/>
            </a:endParaRPr>
          </a:p>
          <a:p>
            <a:pPr indent="-285840" lvl="0" marL="285840" marR="0" rtl="0" algn="just">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Strategic investments in automation, software upgrades, and targeted training can significantly improve resolution efficiency and service quality.</a:t>
            </a:r>
            <a:endParaRPr i="0" sz="1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p:nvPr/>
        </p:nvSpPr>
        <p:spPr>
          <a:xfrm>
            <a:off x="959760" y="4350960"/>
            <a:ext cx="6879240" cy="396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accent5"/>
                </a:solidFill>
                <a:latin typeface="Times New Roman"/>
                <a:ea typeface="Times New Roman"/>
                <a:cs typeface="Times New Roman"/>
                <a:sym typeface="Times New Roman"/>
              </a:rPr>
              <a:t>"Data-driven decisions lead to operational excellence."</a:t>
            </a:r>
            <a:endParaRPr b="0" i="0" sz="2000" u="none" cap="none" strike="noStrike">
              <a:solidFill>
                <a:srgbClr val="FFFFFF"/>
              </a:solidFill>
              <a:latin typeface="Arial"/>
              <a:ea typeface="Arial"/>
              <a:cs typeface="Arial"/>
              <a:sym typeface="Arial"/>
            </a:endParaRPr>
          </a:p>
        </p:txBody>
      </p:sp>
      <p:pic>
        <p:nvPicPr>
          <p:cNvPr descr="A blue and white thank you card&#10;&#10;AI-generated content may be incorrect." id="202" name="Google Shape;202;p25"/>
          <p:cNvPicPr preferRelativeResize="0"/>
          <p:nvPr/>
        </p:nvPicPr>
        <p:blipFill rotWithShape="1">
          <a:blip r:embed="rId3">
            <a:alphaModFix/>
          </a:blip>
          <a:srcRect b="0" l="0" r="0" t="0"/>
          <a:stretch/>
        </p:blipFill>
        <p:spPr>
          <a:xfrm>
            <a:off x="434160" y="0"/>
            <a:ext cx="8275680" cy="51433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